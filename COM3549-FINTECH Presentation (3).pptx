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9" r:id="rId4"/>
    <p:sldId id="258" r:id="rId5"/>
    <p:sldId id="261" r:id="rId6"/>
    <p:sldId id="262" r:id="rId7"/>
    <p:sldId id="264" r:id="rId8"/>
    <p:sldId id="263" r:id="rId9"/>
    <p:sldId id="269" r:id="rId10"/>
    <p:sldId id="270" r:id="rId11"/>
    <p:sldId id="265" r:id="rId12"/>
    <p:sldId id="268"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38D62D44-9197-41B2-A324-9C44242227DF}">
          <p14:sldIdLst>
            <p14:sldId id="256"/>
            <p14:sldId id="257"/>
            <p14:sldId id="259"/>
            <p14:sldId id="258"/>
            <p14:sldId id="261"/>
          </p14:sldIdLst>
        </p14:section>
        <p14:section name="Başlıksız Bölüm" id="{585BEC7E-791E-455F-B431-69BF81F0D4AA}">
          <p14:sldIdLst>
            <p14:sldId id="262"/>
            <p14:sldId id="264"/>
            <p14:sldId id="263"/>
            <p14:sldId id="269"/>
            <p14:sldId id="270"/>
            <p14:sldId id="265"/>
            <p14:sldId id="268"/>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Orta Stil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9"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BF1E3E-5AF2-400F-8C24-CF41C53EBC04}" type="doc">
      <dgm:prSet loTypeId="urn:microsoft.com/office/officeart/2018/5/layout/IconCircle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E7C83681-D5EB-4477-9839-E1E50A296B2C}">
      <dgm:prSet/>
      <dgm:spPr/>
      <dgm:t>
        <a:bodyPr/>
        <a:lstStyle/>
        <a:p>
          <a:pPr>
            <a:lnSpc>
              <a:spcPct val="100000"/>
            </a:lnSpc>
            <a:defRPr cap="all"/>
          </a:pPr>
          <a:r>
            <a:rPr lang="en-US"/>
            <a:t>Logistic Regression</a:t>
          </a:r>
        </a:p>
      </dgm:t>
    </dgm:pt>
    <dgm:pt modelId="{C15DB84F-94E4-4490-A7F6-994CC72778E8}" type="parTrans" cxnId="{26F7BEF9-5FC7-479F-B427-A6E5ACA5A897}">
      <dgm:prSet/>
      <dgm:spPr/>
      <dgm:t>
        <a:bodyPr/>
        <a:lstStyle/>
        <a:p>
          <a:endParaRPr lang="en-US"/>
        </a:p>
      </dgm:t>
    </dgm:pt>
    <dgm:pt modelId="{C435478E-9F69-4338-95A6-DD314CF8CC0F}" type="sibTrans" cxnId="{26F7BEF9-5FC7-479F-B427-A6E5ACA5A897}">
      <dgm:prSet/>
      <dgm:spPr/>
      <dgm:t>
        <a:bodyPr/>
        <a:lstStyle/>
        <a:p>
          <a:endParaRPr lang="en-US"/>
        </a:p>
      </dgm:t>
    </dgm:pt>
    <dgm:pt modelId="{E4B3231A-A0B1-48B1-88D6-5C42AE073098}">
      <dgm:prSet/>
      <dgm:spPr/>
      <dgm:t>
        <a:bodyPr/>
        <a:lstStyle/>
        <a:p>
          <a:pPr>
            <a:lnSpc>
              <a:spcPct val="100000"/>
            </a:lnSpc>
            <a:defRPr cap="all"/>
          </a:pPr>
          <a:r>
            <a:rPr lang="en-US"/>
            <a:t>Random Forest Classifier</a:t>
          </a:r>
        </a:p>
      </dgm:t>
    </dgm:pt>
    <dgm:pt modelId="{ECF56995-DF29-4E80-AF13-81F8FC752788}" type="parTrans" cxnId="{683EC67A-4558-4C5A-ACAE-312E65CA4DE3}">
      <dgm:prSet/>
      <dgm:spPr/>
      <dgm:t>
        <a:bodyPr/>
        <a:lstStyle/>
        <a:p>
          <a:endParaRPr lang="en-US"/>
        </a:p>
      </dgm:t>
    </dgm:pt>
    <dgm:pt modelId="{4B004626-8495-4F58-85CE-F065FBDD7FA3}" type="sibTrans" cxnId="{683EC67A-4558-4C5A-ACAE-312E65CA4DE3}">
      <dgm:prSet/>
      <dgm:spPr/>
      <dgm:t>
        <a:bodyPr/>
        <a:lstStyle/>
        <a:p>
          <a:endParaRPr lang="en-US"/>
        </a:p>
      </dgm:t>
    </dgm:pt>
    <dgm:pt modelId="{CA1A45AD-FA36-44D6-A581-4651977ED18E}">
      <dgm:prSet/>
      <dgm:spPr/>
      <dgm:t>
        <a:bodyPr/>
        <a:lstStyle/>
        <a:p>
          <a:pPr>
            <a:lnSpc>
              <a:spcPct val="100000"/>
            </a:lnSpc>
            <a:defRPr cap="all"/>
          </a:pPr>
          <a:r>
            <a:rPr lang="en-US"/>
            <a:t>K-Nearest Neighbors (KNN)</a:t>
          </a:r>
        </a:p>
      </dgm:t>
    </dgm:pt>
    <dgm:pt modelId="{6A3350F3-ED50-430C-8B5C-30E8E13B7F90}" type="parTrans" cxnId="{759C1038-8D72-43B8-8FBE-41BE5D4BEBED}">
      <dgm:prSet/>
      <dgm:spPr/>
      <dgm:t>
        <a:bodyPr/>
        <a:lstStyle/>
        <a:p>
          <a:endParaRPr lang="en-US"/>
        </a:p>
      </dgm:t>
    </dgm:pt>
    <dgm:pt modelId="{0C8A2745-7845-488D-9CEB-748FDF5CC926}" type="sibTrans" cxnId="{759C1038-8D72-43B8-8FBE-41BE5D4BEBED}">
      <dgm:prSet/>
      <dgm:spPr/>
      <dgm:t>
        <a:bodyPr/>
        <a:lstStyle/>
        <a:p>
          <a:endParaRPr lang="en-US"/>
        </a:p>
      </dgm:t>
    </dgm:pt>
    <dgm:pt modelId="{1FF6B89C-640B-45CC-979E-3FC29C1CE895}" type="pres">
      <dgm:prSet presAssocID="{B5BF1E3E-5AF2-400F-8C24-CF41C53EBC04}" presName="root" presStyleCnt="0">
        <dgm:presLayoutVars>
          <dgm:dir/>
          <dgm:resizeHandles val="exact"/>
        </dgm:presLayoutVars>
      </dgm:prSet>
      <dgm:spPr/>
    </dgm:pt>
    <dgm:pt modelId="{C908EB7E-F670-4CD9-ABC3-59435380B17B}" type="pres">
      <dgm:prSet presAssocID="{E7C83681-D5EB-4477-9839-E1E50A296B2C}" presName="compNode" presStyleCnt="0"/>
      <dgm:spPr/>
    </dgm:pt>
    <dgm:pt modelId="{83DDF97F-662A-4749-AE20-2FCA0662B301}" type="pres">
      <dgm:prSet presAssocID="{E7C83681-D5EB-4477-9839-E1E50A296B2C}" presName="iconBgRect" presStyleLbl="bgShp" presStyleIdx="0" presStyleCnt="3"/>
      <dgm:spPr/>
    </dgm:pt>
    <dgm:pt modelId="{A9315803-D8AA-43C3-902A-603181E21C54}" type="pres">
      <dgm:prSet presAssocID="{E7C83681-D5EB-4477-9839-E1E50A296B2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82966A14-B555-49F8-BFE5-259E3A132F41}" type="pres">
      <dgm:prSet presAssocID="{E7C83681-D5EB-4477-9839-E1E50A296B2C}" presName="spaceRect" presStyleCnt="0"/>
      <dgm:spPr/>
    </dgm:pt>
    <dgm:pt modelId="{F2B79898-4441-4265-8DD3-ECA3AC8B0EDD}" type="pres">
      <dgm:prSet presAssocID="{E7C83681-D5EB-4477-9839-E1E50A296B2C}" presName="textRect" presStyleLbl="revTx" presStyleIdx="0" presStyleCnt="3">
        <dgm:presLayoutVars>
          <dgm:chMax val="1"/>
          <dgm:chPref val="1"/>
        </dgm:presLayoutVars>
      </dgm:prSet>
      <dgm:spPr/>
    </dgm:pt>
    <dgm:pt modelId="{643EFD6F-AF08-4346-8892-BA51A9B41550}" type="pres">
      <dgm:prSet presAssocID="{C435478E-9F69-4338-95A6-DD314CF8CC0F}" presName="sibTrans" presStyleCnt="0"/>
      <dgm:spPr/>
    </dgm:pt>
    <dgm:pt modelId="{54EE2FA8-420D-4145-B99C-F4EC61881921}" type="pres">
      <dgm:prSet presAssocID="{E4B3231A-A0B1-48B1-88D6-5C42AE073098}" presName="compNode" presStyleCnt="0"/>
      <dgm:spPr/>
    </dgm:pt>
    <dgm:pt modelId="{4692A125-B62B-41E5-BD3B-825BB36777CA}" type="pres">
      <dgm:prSet presAssocID="{E4B3231A-A0B1-48B1-88D6-5C42AE073098}" presName="iconBgRect" presStyleLbl="bgShp" presStyleIdx="1" presStyleCnt="3"/>
      <dgm:spPr/>
    </dgm:pt>
    <dgm:pt modelId="{6A451E15-75B8-454B-AFE3-8FF14DA04127}" type="pres">
      <dgm:prSet presAssocID="{E4B3231A-A0B1-48B1-88D6-5C42AE07309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ciduous tree"/>
        </a:ext>
      </dgm:extLst>
    </dgm:pt>
    <dgm:pt modelId="{BC4495CE-468D-482F-A894-080E71ADB7B0}" type="pres">
      <dgm:prSet presAssocID="{E4B3231A-A0B1-48B1-88D6-5C42AE073098}" presName="spaceRect" presStyleCnt="0"/>
      <dgm:spPr/>
    </dgm:pt>
    <dgm:pt modelId="{FA51CE58-6E90-423F-9B64-E4D64D18F216}" type="pres">
      <dgm:prSet presAssocID="{E4B3231A-A0B1-48B1-88D6-5C42AE073098}" presName="textRect" presStyleLbl="revTx" presStyleIdx="1" presStyleCnt="3">
        <dgm:presLayoutVars>
          <dgm:chMax val="1"/>
          <dgm:chPref val="1"/>
        </dgm:presLayoutVars>
      </dgm:prSet>
      <dgm:spPr/>
    </dgm:pt>
    <dgm:pt modelId="{83DFC616-1B66-49CB-991D-66B36030C9DB}" type="pres">
      <dgm:prSet presAssocID="{4B004626-8495-4F58-85CE-F065FBDD7FA3}" presName="sibTrans" presStyleCnt="0"/>
      <dgm:spPr/>
    </dgm:pt>
    <dgm:pt modelId="{6FE7DAA6-9DFB-4694-B7D0-55DA9F24F08A}" type="pres">
      <dgm:prSet presAssocID="{CA1A45AD-FA36-44D6-A581-4651977ED18E}" presName="compNode" presStyleCnt="0"/>
      <dgm:spPr/>
    </dgm:pt>
    <dgm:pt modelId="{16B1B319-DA85-4EF6-96C2-9B28D4D51669}" type="pres">
      <dgm:prSet presAssocID="{CA1A45AD-FA36-44D6-A581-4651977ED18E}" presName="iconBgRect" presStyleLbl="bgShp" presStyleIdx="2" presStyleCnt="3"/>
      <dgm:spPr/>
    </dgm:pt>
    <dgm:pt modelId="{C1B7E268-9F4C-4B11-93C5-4C6A15D2E6E7}" type="pres">
      <dgm:prSet presAssocID="{CA1A45AD-FA36-44D6-A581-4651977ED18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uburban scene"/>
        </a:ext>
      </dgm:extLst>
    </dgm:pt>
    <dgm:pt modelId="{2444B0F9-C78B-44C7-AC2E-9F1BD75AF6B0}" type="pres">
      <dgm:prSet presAssocID="{CA1A45AD-FA36-44D6-A581-4651977ED18E}" presName="spaceRect" presStyleCnt="0"/>
      <dgm:spPr/>
    </dgm:pt>
    <dgm:pt modelId="{5A63A4BD-F69D-4D8F-BA66-0F3F247703B0}" type="pres">
      <dgm:prSet presAssocID="{CA1A45AD-FA36-44D6-A581-4651977ED18E}" presName="textRect" presStyleLbl="revTx" presStyleIdx="2" presStyleCnt="3">
        <dgm:presLayoutVars>
          <dgm:chMax val="1"/>
          <dgm:chPref val="1"/>
        </dgm:presLayoutVars>
      </dgm:prSet>
      <dgm:spPr/>
    </dgm:pt>
  </dgm:ptLst>
  <dgm:cxnLst>
    <dgm:cxn modelId="{759C1038-8D72-43B8-8FBE-41BE5D4BEBED}" srcId="{B5BF1E3E-5AF2-400F-8C24-CF41C53EBC04}" destId="{CA1A45AD-FA36-44D6-A581-4651977ED18E}" srcOrd="2" destOrd="0" parTransId="{6A3350F3-ED50-430C-8B5C-30E8E13B7F90}" sibTransId="{0C8A2745-7845-488D-9CEB-748FDF5CC926}"/>
    <dgm:cxn modelId="{7CAFF66F-547B-4BB4-A047-2764F71CF921}" type="presOf" srcId="{CA1A45AD-FA36-44D6-A581-4651977ED18E}" destId="{5A63A4BD-F69D-4D8F-BA66-0F3F247703B0}" srcOrd="0" destOrd="0" presId="urn:microsoft.com/office/officeart/2018/5/layout/IconCircleLabelList"/>
    <dgm:cxn modelId="{E6D10570-3139-477A-8609-105A76D1EFA6}" type="presOf" srcId="{E4B3231A-A0B1-48B1-88D6-5C42AE073098}" destId="{FA51CE58-6E90-423F-9B64-E4D64D18F216}" srcOrd="0" destOrd="0" presId="urn:microsoft.com/office/officeart/2018/5/layout/IconCircleLabelList"/>
    <dgm:cxn modelId="{024E6577-201B-45D9-96F0-9347E6383306}" type="presOf" srcId="{E7C83681-D5EB-4477-9839-E1E50A296B2C}" destId="{F2B79898-4441-4265-8DD3-ECA3AC8B0EDD}" srcOrd="0" destOrd="0" presId="urn:microsoft.com/office/officeart/2018/5/layout/IconCircleLabelList"/>
    <dgm:cxn modelId="{683EC67A-4558-4C5A-ACAE-312E65CA4DE3}" srcId="{B5BF1E3E-5AF2-400F-8C24-CF41C53EBC04}" destId="{E4B3231A-A0B1-48B1-88D6-5C42AE073098}" srcOrd="1" destOrd="0" parTransId="{ECF56995-DF29-4E80-AF13-81F8FC752788}" sibTransId="{4B004626-8495-4F58-85CE-F065FBDD7FA3}"/>
    <dgm:cxn modelId="{D49B56F9-0487-4C04-A7DD-F8365B242341}" type="presOf" srcId="{B5BF1E3E-5AF2-400F-8C24-CF41C53EBC04}" destId="{1FF6B89C-640B-45CC-979E-3FC29C1CE895}" srcOrd="0" destOrd="0" presId="urn:microsoft.com/office/officeart/2018/5/layout/IconCircleLabelList"/>
    <dgm:cxn modelId="{26F7BEF9-5FC7-479F-B427-A6E5ACA5A897}" srcId="{B5BF1E3E-5AF2-400F-8C24-CF41C53EBC04}" destId="{E7C83681-D5EB-4477-9839-E1E50A296B2C}" srcOrd="0" destOrd="0" parTransId="{C15DB84F-94E4-4490-A7F6-994CC72778E8}" sibTransId="{C435478E-9F69-4338-95A6-DD314CF8CC0F}"/>
    <dgm:cxn modelId="{301D19C6-115E-4290-8FC4-BF82D248AA30}" type="presParOf" srcId="{1FF6B89C-640B-45CC-979E-3FC29C1CE895}" destId="{C908EB7E-F670-4CD9-ABC3-59435380B17B}" srcOrd="0" destOrd="0" presId="urn:microsoft.com/office/officeart/2018/5/layout/IconCircleLabelList"/>
    <dgm:cxn modelId="{EB40452E-6A84-4C52-B9AC-D6D5596F020D}" type="presParOf" srcId="{C908EB7E-F670-4CD9-ABC3-59435380B17B}" destId="{83DDF97F-662A-4749-AE20-2FCA0662B301}" srcOrd="0" destOrd="0" presId="urn:microsoft.com/office/officeart/2018/5/layout/IconCircleLabelList"/>
    <dgm:cxn modelId="{DC8C216C-802A-4079-A2B4-90BA01197D8B}" type="presParOf" srcId="{C908EB7E-F670-4CD9-ABC3-59435380B17B}" destId="{A9315803-D8AA-43C3-902A-603181E21C54}" srcOrd="1" destOrd="0" presId="urn:microsoft.com/office/officeart/2018/5/layout/IconCircleLabelList"/>
    <dgm:cxn modelId="{9D5B052E-D06C-4622-98FC-90FCB4992740}" type="presParOf" srcId="{C908EB7E-F670-4CD9-ABC3-59435380B17B}" destId="{82966A14-B555-49F8-BFE5-259E3A132F41}" srcOrd="2" destOrd="0" presId="urn:microsoft.com/office/officeart/2018/5/layout/IconCircleLabelList"/>
    <dgm:cxn modelId="{FB166939-4ABB-4DCB-8061-B9203BD51009}" type="presParOf" srcId="{C908EB7E-F670-4CD9-ABC3-59435380B17B}" destId="{F2B79898-4441-4265-8DD3-ECA3AC8B0EDD}" srcOrd="3" destOrd="0" presId="urn:microsoft.com/office/officeart/2018/5/layout/IconCircleLabelList"/>
    <dgm:cxn modelId="{CE56845E-C035-4715-8B1E-254982662F93}" type="presParOf" srcId="{1FF6B89C-640B-45CC-979E-3FC29C1CE895}" destId="{643EFD6F-AF08-4346-8892-BA51A9B41550}" srcOrd="1" destOrd="0" presId="urn:microsoft.com/office/officeart/2018/5/layout/IconCircleLabelList"/>
    <dgm:cxn modelId="{C24E5E67-0B01-47BE-B4E2-E3EB7A845695}" type="presParOf" srcId="{1FF6B89C-640B-45CC-979E-3FC29C1CE895}" destId="{54EE2FA8-420D-4145-B99C-F4EC61881921}" srcOrd="2" destOrd="0" presId="urn:microsoft.com/office/officeart/2018/5/layout/IconCircleLabelList"/>
    <dgm:cxn modelId="{3A260C23-C29C-4D2F-906D-3723C6F21A59}" type="presParOf" srcId="{54EE2FA8-420D-4145-B99C-F4EC61881921}" destId="{4692A125-B62B-41E5-BD3B-825BB36777CA}" srcOrd="0" destOrd="0" presId="urn:microsoft.com/office/officeart/2018/5/layout/IconCircleLabelList"/>
    <dgm:cxn modelId="{3BE7F1D4-7282-4093-8F42-E4B4B1C1AA8E}" type="presParOf" srcId="{54EE2FA8-420D-4145-B99C-F4EC61881921}" destId="{6A451E15-75B8-454B-AFE3-8FF14DA04127}" srcOrd="1" destOrd="0" presId="urn:microsoft.com/office/officeart/2018/5/layout/IconCircleLabelList"/>
    <dgm:cxn modelId="{26F08207-37FA-462A-9446-9FE5DF70B5E4}" type="presParOf" srcId="{54EE2FA8-420D-4145-B99C-F4EC61881921}" destId="{BC4495CE-468D-482F-A894-080E71ADB7B0}" srcOrd="2" destOrd="0" presId="urn:microsoft.com/office/officeart/2018/5/layout/IconCircleLabelList"/>
    <dgm:cxn modelId="{BEB43953-4F26-4054-A06D-F1A967AC9FA1}" type="presParOf" srcId="{54EE2FA8-420D-4145-B99C-F4EC61881921}" destId="{FA51CE58-6E90-423F-9B64-E4D64D18F216}" srcOrd="3" destOrd="0" presId="urn:microsoft.com/office/officeart/2018/5/layout/IconCircleLabelList"/>
    <dgm:cxn modelId="{AAAC6C6B-80D6-47D6-9A27-97B73706E58A}" type="presParOf" srcId="{1FF6B89C-640B-45CC-979E-3FC29C1CE895}" destId="{83DFC616-1B66-49CB-991D-66B36030C9DB}" srcOrd="3" destOrd="0" presId="urn:microsoft.com/office/officeart/2018/5/layout/IconCircleLabelList"/>
    <dgm:cxn modelId="{BA9CA2F0-0EC9-47E9-83A1-F312033876AA}" type="presParOf" srcId="{1FF6B89C-640B-45CC-979E-3FC29C1CE895}" destId="{6FE7DAA6-9DFB-4694-B7D0-55DA9F24F08A}" srcOrd="4" destOrd="0" presId="urn:microsoft.com/office/officeart/2018/5/layout/IconCircleLabelList"/>
    <dgm:cxn modelId="{DF767F0E-C1CE-469B-B527-47A15C7E9F0E}" type="presParOf" srcId="{6FE7DAA6-9DFB-4694-B7D0-55DA9F24F08A}" destId="{16B1B319-DA85-4EF6-96C2-9B28D4D51669}" srcOrd="0" destOrd="0" presId="urn:microsoft.com/office/officeart/2018/5/layout/IconCircleLabelList"/>
    <dgm:cxn modelId="{6202995B-F801-4276-AA83-C21D244F0FF4}" type="presParOf" srcId="{6FE7DAA6-9DFB-4694-B7D0-55DA9F24F08A}" destId="{C1B7E268-9F4C-4B11-93C5-4C6A15D2E6E7}" srcOrd="1" destOrd="0" presId="urn:microsoft.com/office/officeart/2018/5/layout/IconCircleLabelList"/>
    <dgm:cxn modelId="{2AC52D73-F172-47BD-987D-30A8C144CFBE}" type="presParOf" srcId="{6FE7DAA6-9DFB-4694-B7D0-55DA9F24F08A}" destId="{2444B0F9-C78B-44C7-AC2E-9F1BD75AF6B0}" srcOrd="2" destOrd="0" presId="urn:microsoft.com/office/officeart/2018/5/layout/IconCircleLabelList"/>
    <dgm:cxn modelId="{ED2A23EE-A8F0-405B-A676-438CFC2D2803}" type="presParOf" srcId="{6FE7DAA6-9DFB-4694-B7D0-55DA9F24F08A}" destId="{5A63A4BD-F69D-4D8F-BA66-0F3F247703B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8827A6-966F-42C1-AC30-A725AAC97B7A}" type="doc">
      <dgm:prSet loTypeId="urn:microsoft.com/office/officeart/2005/8/layout/process4" loCatId="process" qsTypeId="urn:microsoft.com/office/officeart/2005/8/quickstyle/3d5" qsCatId="3D" csTypeId="urn:microsoft.com/office/officeart/2005/8/colors/accent6_2" csCatId="accent6"/>
      <dgm:spPr/>
      <dgm:t>
        <a:bodyPr/>
        <a:lstStyle/>
        <a:p>
          <a:endParaRPr lang="en-US"/>
        </a:p>
      </dgm:t>
    </dgm:pt>
    <dgm:pt modelId="{3F117C32-0338-4D24-A27D-2C0C20A87A4A}">
      <dgm:prSet/>
      <dgm:spPr/>
      <dgm:t>
        <a:bodyPr/>
        <a:lstStyle/>
        <a:p>
          <a:r>
            <a:rPr lang="en-US" dirty="0"/>
            <a:t>The dataset was split into training and test sets using a 70–30 ratio. As a result, approximately 20,300 records were used for training and 8,700 for testing.</a:t>
          </a:r>
        </a:p>
      </dgm:t>
    </dgm:pt>
    <dgm:pt modelId="{9A0250FE-7F85-4BE8-AF72-1152E2F326AE}" type="parTrans" cxnId="{7FDCDF62-9298-4705-8CA6-D482AF2CE092}">
      <dgm:prSet/>
      <dgm:spPr/>
      <dgm:t>
        <a:bodyPr/>
        <a:lstStyle/>
        <a:p>
          <a:endParaRPr lang="en-US"/>
        </a:p>
      </dgm:t>
    </dgm:pt>
    <dgm:pt modelId="{99D81AE4-7978-44F3-AFE2-9AC47CE11ECC}" type="sibTrans" cxnId="{7FDCDF62-9298-4705-8CA6-D482AF2CE092}">
      <dgm:prSet/>
      <dgm:spPr/>
      <dgm:t>
        <a:bodyPr/>
        <a:lstStyle/>
        <a:p>
          <a:endParaRPr lang="en-US"/>
        </a:p>
      </dgm:t>
    </dgm:pt>
    <dgm:pt modelId="{89BABF38-158D-4A57-85E6-29ED4DF09ED9}">
      <dgm:prSet/>
      <dgm:spPr/>
      <dgm:t>
        <a:bodyPr/>
        <a:lstStyle/>
        <a:p>
          <a:r>
            <a:rPr lang="tr-TR" dirty="0"/>
            <a:t>%30 Test Set</a:t>
          </a:r>
          <a:endParaRPr lang="en-US" dirty="0"/>
        </a:p>
      </dgm:t>
    </dgm:pt>
    <dgm:pt modelId="{E96E505A-F9D5-4D7D-BEDB-5AA61D31565A}" type="parTrans" cxnId="{1B15ADCF-C3EF-4FD5-8433-9F00DBF86055}">
      <dgm:prSet/>
      <dgm:spPr/>
      <dgm:t>
        <a:bodyPr/>
        <a:lstStyle/>
        <a:p>
          <a:endParaRPr lang="en-US"/>
        </a:p>
      </dgm:t>
    </dgm:pt>
    <dgm:pt modelId="{48F8E928-2B1C-4BC5-94B8-99A546BB745F}" type="sibTrans" cxnId="{1B15ADCF-C3EF-4FD5-8433-9F00DBF86055}">
      <dgm:prSet/>
      <dgm:spPr/>
      <dgm:t>
        <a:bodyPr/>
        <a:lstStyle/>
        <a:p>
          <a:endParaRPr lang="en-US"/>
        </a:p>
      </dgm:t>
    </dgm:pt>
    <dgm:pt modelId="{ADB4D284-86A8-46E8-A09D-B00A446F892C}">
      <dgm:prSet/>
      <dgm:spPr/>
      <dgm:t>
        <a:bodyPr/>
        <a:lstStyle/>
        <a:p>
          <a:r>
            <a:rPr lang="tr-TR" dirty="0"/>
            <a:t>%70 Train Set</a:t>
          </a:r>
          <a:endParaRPr lang="en-US" dirty="0"/>
        </a:p>
      </dgm:t>
    </dgm:pt>
    <dgm:pt modelId="{2197C8DD-4837-4FA4-AC16-C053DF0BA448}" type="parTrans" cxnId="{AA0F2517-1AFA-47FF-B6B6-08925117635B}">
      <dgm:prSet/>
      <dgm:spPr/>
      <dgm:t>
        <a:bodyPr/>
        <a:lstStyle/>
        <a:p>
          <a:endParaRPr lang="en-US"/>
        </a:p>
      </dgm:t>
    </dgm:pt>
    <dgm:pt modelId="{635A3CEC-335B-4B32-8EDF-AB23D7ACBA5B}" type="sibTrans" cxnId="{AA0F2517-1AFA-47FF-B6B6-08925117635B}">
      <dgm:prSet/>
      <dgm:spPr/>
      <dgm:t>
        <a:bodyPr/>
        <a:lstStyle/>
        <a:p>
          <a:endParaRPr lang="en-US"/>
        </a:p>
      </dgm:t>
    </dgm:pt>
    <dgm:pt modelId="{6B323D0C-7BE3-4DCD-B989-63B330DBED8C}" type="pres">
      <dgm:prSet presAssocID="{CB8827A6-966F-42C1-AC30-A725AAC97B7A}" presName="Name0" presStyleCnt="0">
        <dgm:presLayoutVars>
          <dgm:dir/>
          <dgm:animLvl val="lvl"/>
          <dgm:resizeHandles val="exact"/>
        </dgm:presLayoutVars>
      </dgm:prSet>
      <dgm:spPr/>
    </dgm:pt>
    <dgm:pt modelId="{92F27E71-9291-47E0-97EB-4A5079948001}" type="pres">
      <dgm:prSet presAssocID="{3F117C32-0338-4D24-A27D-2C0C20A87A4A}" presName="boxAndChildren" presStyleCnt="0"/>
      <dgm:spPr/>
    </dgm:pt>
    <dgm:pt modelId="{99D8C837-8EA5-43E4-9187-510196A78CF4}" type="pres">
      <dgm:prSet presAssocID="{3F117C32-0338-4D24-A27D-2C0C20A87A4A}" presName="parentTextBox" presStyleLbl="node1" presStyleIdx="0" presStyleCnt="1"/>
      <dgm:spPr/>
    </dgm:pt>
    <dgm:pt modelId="{256352F0-7611-48A3-9266-D8E790F1E81D}" type="pres">
      <dgm:prSet presAssocID="{3F117C32-0338-4D24-A27D-2C0C20A87A4A}" presName="entireBox" presStyleLbl="node1" presStyleIdx="0" presStyleCnt="1"/>
      <dgm:spPr/>
    </dgm:pt>
    <dgm:pt modelId="{3E87B129-8B8E-4738-9429-C928D149610A}" type="pres">
      <dgm:prSet presAssocID="{3F117C32-0338-4D24-A27D-2C0C20A87A4A}" presName="descendantBox" presStyleCnt="0"/>
      <dgm:spPr/>
    </dgm:pt>
    <dgm:pt modelId="{4E6AE9A7-7FFA-4A35-9D23-D9992DE092B8}" type="pres">
      <dgm:prSet presAssocID="{89BABF38-158D-4A57-85E6-29ED4DF09ED9}" presName="childTextBox" presStyleLbl="fgAccFollowNode1" presStyleIdx="0" presStyleCnt="2">
        <dgm:presLayoutVars>
          <dgm:bulletEnabled val="1"/>
        </dgm:presLayoutVars>
      </dgm:prSet>
      <dgm:spPr/>
    </dgm:pt>
    <dgm:pt modelId="{23061499-3554-4A2B-BE2D-9E29A3B9564C}" type="pres">
      <dgm:prSet presAssocID="{ADB4D284-86A8-46E8-A09D-B00A446F892C}" presName="childTextBox" presStyleLbl="fgAccFollowNode1" presStyleIdx="1" presStyleCnt="2">
        <dgm:presLayoutVars>
          <dgm:bulletEnabled val="1"/>
        </dgm:presLayoutVars>
      </dgm:prSet>
      <dgm:spPr/>
    </dgm:pt>
  </dgm:ptLst>
  <dgm:cxnLst>
    <dgm:cxn modelId="{AA0F2517-1AFA-47FF-B6B6-08925117635B}" srcId="{3F117C32-0338-4D24-A27D-2C0C20A87A4A}" destId="{ADB4D284-86A8-46E8-A09D-B00A446F892C}" srcOrd="1" destOrd="0" parTransId="{2197C8DD-4837-4FA4-AC16-C053DF0BA448}" sibTransId="{635A3CEC-335B-4B32-8EDF-AB23D7ACBA5B}"/>
    <dgm:cxn modelId="{9489B53C-99A1-4D14-9355-9110D8F58FD2}" type="presOf" srcId="{CB8827A6-966F-42C1-AC30-A725AAC97B7A}" destId="{6B323D0C-7BE3-4DCD-B989-63B330DBED8C}" srcOrd="0" destOrd="0" presId="urn:microsoft.com/office/officeart/2005/8/layout/process4"/>
    <dgm:cxn modelId="{7FDCDF62-9298-4705-8CA6-D482AF2CE092}" srcId="{CB8827A6-966F-42C1-AC30-A725AAC97B7A}" destId="{3F117C32-0338-4D24-A27D-2C0C20A87A4A}" srcOrd="0" destOrd="0" parTransId="{9A0250FE-7F85-4BE8-AF72-1152E2F326AE}" sibTransId="{99D81AE4-7978-44F3-AFE2-9AC47CE11ECC}"/>
    <dgm:cxn modelId="{F574EE6C-F898-462B-86A6-4133D043F32A}" type="presOf" srcId="{3F117C32-0338-4D24-A27D-2C0C20A87A4A}" destId="{256352F0-7611-48A3-9266-D8E790F1E81D}" srcOrd="1" destOrd="0" presId="urn:microsoft.com/office/officeart/2005/8/layout/process4"/>
    <dgm:cxn modelId="{2026A7AB-9668-4E98-8B6C-AE9915AFAC15}" type="presOf" srcId="{ADB4D284-86A8-46E8-A09D-B00A446F892C}" destId="{23061499-3554-4A2B-BE2D-9E29A3B9564C}" srcOrd="0" destOrd="0" presId="urn:microsoft.com/office/officeart/2005/8/layout/process4"/>
    <dgm:cxn modelId="{5E9634BC-4579-422A-B485-EFD0937B873C}" type="presOf" srcId="{3F117C32-0338-4D24-A27D-2C0C20A87A4A}" destId="{99D8C837-8EA5-43E4-9187-510196A78CF4}" srcOrd="0" destOrd="0" presId="urn:microsoft.com/office/officeart/2005/8/layout/process4"/>
    <dgm:cxn modelId="{CC7BF5C2-641C-44C6-8F35-B7966EE7830E}" type="presOf" srcId="{89BABF38-158D-4A57-85E6-29ED4DF09ED9}" destId="{4E6AE9A7-7FFA-4A35-9D23-D9992DE092B8}" srcOrd="0" destOrd="0" presId="urn:microsoft.com/office/officeart/2005/8/layout/process4"/>
    <dgm:cxn modelId="{1B15ADCF-C3EF-4FD5-8433-9F00DBF86055}" srcId="{3F117C32-0338-4D24-A27D-2C0C20A87A4A}" destId="{89BABF38-158D-4A57-85E6-29ED4DF09ED9}" srcOrd="0" destOrd="0" parTransId="{E96E505A-F9D5-4D7D-BEDB-5AA61D31565A}" sibTransId="{48F8E928-2B1C-4BC5-94B8-99A546BB745F}"/>
    <dgm:cxn modelId="{9DECB582-953A-47B1-9AA2-412B1B904A93}" type="presParOf" srcId="{6B323D0C-7BE3-4DCD-B989-63B330DBED8C}" destId="{92F27E71-9291-47E0-97EB-4A5079948001}" srcOrd="0" destOrd="0" presId="urn:microsoft.com/office/officeart/2005/8/layout/process4"/>
    <dgm:cxn modelId="{2DB9444F-65D9-44E7-B42C-BA44B605B459}" type="presParOf" srcId="{92F27E71-9291-47E0-97EB-4A5079948001}" destId="{99D8C837-8EA5-43E4-9187-510196A78CF4}" srcOrd="0" destOrd="0" presId="urn:microsoft.com/office/officeart/2005/8/layout/process4"/>
    <dgm:cxn modelId="{1ACA2107-E01E-4D49-9D2C-ACA234813A34}" type="presParOf" srcId="{92F27E71-9291-47E0-97EB-4A5079948001}" destId="{256352F0-7611-48A3-9266-D8E790F1E81D}" srcOrd="1" destOrd="0" presId="urn:microsoft.com/office/officeart/2005/8/layout/process4"/>
    <dgm:cxn modelId="{78951576-20E0-4C71-A6A5-093F4259E9C7}" type="presParOf" srcId="{92F27E71-9291-47E0-97EB-4A5079948001}" destId="{3E87B129-8B8E-4738-9429-C928D149610A}" srcOrd="2" destOrd="0" presId="urn:microsoft.com/office/officeart/2005/8/layout/process4"/>
    <dgm:cxn modelId="{8EE57E35-D1C4-414D-9247-8FFB715452BB}" type="presParOf" srcId="{3E87B129-8B8E-4738-9429-C928D149610A}" destId="{4E6AE9A7-7FFA-4A35-9D23-D9992DE092B8}" srcOrd="0" destOrd="0" presId="urn:microsoft.com/office/officeart/2005/8/layout/process4"/>
    <dgm:cxn modelId="{EB76A0E6-FA3D-4D4C-85E7-43FE06715E26}" type="presParOf" srcId="{3E87B129-8B8E-4738-9429-C928D149610A}" destId="{23061499-3554-4A2B-BE2D-9E29A3B9564C}"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DF97F-662A-4749-AE20-2FCA0662B301}">
      <dsp:nvSpPr>
        <dsp:cNvPr id="0" name=""/>
        <dsp:cNvSpPr/>
      </dsp:nvSpPr>
      <dsp:spPr>
        <a:xfrm>
          <a:off x="624000" y="240855"/>
          <a:ext cx="1784250" cy="178425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315803-D8AA-43C3-902A-603181E21C54}">
      <dsp:nvSpPr>
        <dsp:cNvPr id="0" name=""/>
        <dsp:cNvSpPr/>
      </dsp:nvSpPr>
      <dsp:spPr>
        <a:xfrm>
          <a:off x="1004250" y="621105"/>
          <a:ext cx="1023750" cy="10237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B79898-4441-4265-8DD3-ECA3AC8B0EDD}">
      <dsp:nvSpPr>
        <dsp:cNvPr id="0" name=""/>
        <dsp:cNvSpPr/>
      </dsp:nvSpPr>
      <dsp:spPr>
        <a:xfrm>
          <a:off x="53625" y="2580856"/>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a:t>Logistic Regression</a:t>
          </a:r>
        </a:p>
      </dsp:txBody>
      <dsp:txXfrm>
        <a:off x="53625" y="2580856"/>
        <a:ext cx="2925000" cy="720000"/>
      </dsp:txXfrm>
    </dsp:sp>
    <dsp:sp modelId="{4692A125-B62B-41E5-BD3B-825BB36777CA}">
      <dsp:nvSpPr>
        <dsp:cNvPr id="0" name=""/>
        <dsp:cNvSpPr/>
      </dsp:nvSpPr>
      <dsp:spPr>
        <a:xfrm>
          <a:off x="4060875" y="240855"/>
          <a:ext cx="1784250" cy="178425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451E15-75B8-454B-AFE3-8FF14DA04127}">
      <dsp:nvSpPr>
        <dsp:cNvPr id="0" name=""/>
        <dsp:cNvSpPr/>
      </dsp:nvSpPr>
      <dsp:spPr>
        <a:xfrm>
          <a:off x="4441125" y="621105"/>
          <a:ext cx="1023750" cy="10237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51CE58-6E90-423F-9B64-E4D64D18F216}">
      <dsp:nvSpPr>
        <dsp:cNvPr id="0" name=""/>
        <dsp:cNvSpPr/>
      </dsp:nvSpPr>
      <dsp:spPr>
        <a:xfrm>
          <a:off x="3490500" y="2580856"/>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a:t>Random Forest Classifier</a:t>
          </a:r>
        </a:p>
      </dsp:txBody>
      <dsp:txXfrm>
        <a:off x="3490500" y="2580856"/>
        <a:ext cx="2925000" cy="720000"/>
      </dsp:txXfrm>
    </dsp:sp>
    <dsp:sp modelId="{16B1B319-DA85-4EF6-96C2-9B28D4D51669}">
      <dsp:nvSpPr>
        <dsp:cNvPr id="0" name=""/>
        <dsp:cNvSpPr/>
      </dsp:nvSpPr>
      <dsp:spPr>
        <a:xfrm>
          <a:off x="7497750" y="240855"/>
          <a:ext cx="1784250" cy="178425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B7E268-9F4C-4B11-93C5-4C6A15D2E6E7}">
      <dsp:nvSpPr>
        <dsp:cNvPr id="0" name=""/>
        <dsp:cNvSpPr/>
      </dsp:nvSpPr>
      <dsp:spPr>
        <a:xfrm>
          <a:off x="7878000" y="621105"/>
          <a:ext cx="1023750" cy="10237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63A4BD-F69D-4D8F-BA66-0F3F247703B0}">
      <dsp:nvSpPr>
        <dsp:cNvPr id="0" name=""/>
        <dsp:cNvSpPr/>
      </dsp:nvSpPr>
      <dsp:spPr>
        <a:xfrm>
          <a:off x="6927375" y="2580856"/>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a:t>K-Nearest Neighbors (KNN)</a:t>
          </a:r>
        </a:p>
      </dsp:txBody>
      <dsp:txXfrm>
        <a:off x="6927375" y="2580856"/>
        <a:ext cx="2925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6352F0-7611-48A3-9266-D8E790F1E81D}">
      <dsp:nvSpPr>
        <dsp:cNvPr id="0" name=""/>
        <dsp:cNvSpPr/>
      </dsp:nvSpPr>
      <dsp:spPr>
        <a:xfrm>
          <a:off x="0" y="0"/>
          <a:ext cx="7034485" cy="3782778"/>
        </a:xfrm>
        <a:prstGeom prst="rect">
          <a:avLst/>
        </a:prstGeom>
        <a:solidFill>
          <a:schemeClr val="accent6">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dirty="0"/>
            <a:t>The dataset was split into training and test sets using a 70–30 ratio. As a result, approximately 20,300 records were used for training and 8,700 for testing.</a:t>
          </a:r>
        </a:p>
      </dsp:txBody>
      <dsp:txXfrm>
        <a:off x="0" y="0"/>
        <a:ext cx="7034485" cy="2042700"/>
      </dsp:txXfrm>
    </dsp:sp>
    <dsp:sp modelId="{4E6AE9A7-7FFA-4A35-9D23-D9992DE092B8}">
      <dsp:nvSpPr>
        <dsp:cNvPr id="0" name=""/>
        <dsp:cNvSpPr/>
      </dsp:nvSpPr>
      <dsp:spPr>
        <a:xfrm>
          <a:off x="0" y="1967044"/>
          <a:ext cx="3517242" cy="1740077"/>
        </a:xfrm>
        <a:prstGeom prst="rect">
          <a:avLst/>
        </a:prstGeom>
        <a:solidFill>
          <a:schemeClr val="accent6">
            <a:alpha val="90000"/>
            <a:tint val="40000"/>
            <a:hueOff val="0"/>
            <a:satOff val="0"/>
            <a:lumOff val="0"/>
            <a:alphaOff val="0"/>
          </a:schemeClr>
        </a:solidFill>
        <a:ln>
          <a:noFill/>
        </a:ln>
        <a:effectLst/>
        <a:sp3d z="57150" extrusionH="63500" contourW="12700" prstMaterial="matte">
          <a:contourClr>
            <a:schemeClr val="dk1">
              <a:tint val="20000"/>
            </a:schemeClr>
          </a:contourClr>
        </a:sp3d>
      </dsp:spPr>
      <dsp:style>
        <a:lnRef idx="0">
          <a:scrgbClr r="0" g="0" b="0"/>
        </a:lnRef>
        <a:fillRef idx="1">
          <a:scrgbClr r="0" g="0" b="0"/>
        </a:fillRef>
        <a:effectRef idx="0">
          <a:scrgbClr r="0" g="0" b="0"/>
        </a:effectRef>
        <a:fontRef idx="minor"/>
      </dsp:style>
      <dsp:txBody>
        <a:bodyPr spcFirstLastPara="0" vert="horz" wrap="square" lIns="426720" tIns="76200" rIns="426720" bIns="76200" numCol="1" spcCol="1270" anchor="ctr" anchorCtr="0">
          <a:noAutofit/>
        </a:bodyPr>
        <a:lstStyle/>
        <a:p>
          <a:pPr marL="0" lvl="0" indent="0" algn="ctr" defTabSz="2667000">
            <a:lnSpc>
              <a:spcPct val="90000"/>
            </a:lnSpc>
            <a:spcBef>
              <a:spcPct val="0"/>
            </a:spcBef>
            <a:spcAft>
              <a:spcPct val="35000"/>
            </a:spcAft>
            <a:buNone/>
          </a:pPr>
          <a:r>
            <a:rPr lang="tr-TR" sz="6000" kern="1200" dirty="0"/>
            <a:t>%30 Test Set</a:t>
          </a:r>
          <a:endParaRPr lang="en-US" sz="6000" kern="1200" dirty="0"/>
        </a:p>
      </dsp:txBody>
      <dsp:txXfrm>
        <a:off x="0" y="1967044"/>
        <a:ext cx="3517242" cy="1740077"/>
      </dsp:txXfrm>
    </dsp:sp>
    <dsp:sp modelId="{23061499-3554-4A2B-BE2D-9E29A3B9564C}">
      <dsp:nvSpPr>
        <dsp:cNvPr id="0" name=""/>
        <dsp:cNvSpPr/>
      </dsp:nvSpPr>
      <dsp:spPr>
        <a:xfrm>
          <a:off x="3517242" y="1967044"/>
          <a:ext cx="3517242" cy="1740077"/>
        </a:xfrm>
        <a:prstGeom prst="rect">
          <a:avLst/>
        </a:prstGeom>
        <a:solidFill>
          <a:schemeClr val="accent6">
            <a:alpha val="90000"/>
            <a:tint val="40000"/>
            <a:hueOff val="0"/>
            <a:satOff val="0"/>
            <a:lumOff val="0"/>
            <a:alphaOff val="0"/>
          </a:schemeClr>
        </a:solidFill>
        <a:ln>
          <a:noFill/>
        </a:ln>
        <a:effectLst/>
        <a:sp3d z="57150" extrusionH="63500" contourW="12700" prstMaterial="matte">
          <a:contourClr>
            <a:schemeClr val="dk1">
              <a:tint val="20000"/>
            </a:schemeClr>
          </a:contourClr>
        </a:sp3d>
      </dsp:spPr>
      <dsp:style>
        <a:lnRef idx="0">
          <a:scrgbClr r="0" g="0" b="0"/>
        </a:lnRef>
        <a:fillRef idx="1">
          <a:scrgbClr r="0" g="0" b="0"/>
        </a:fillRef>
        <a:effectRef idx="0">
          <a:scrgbClr r="0" g="0" b="0"/>
        </a:effectRef>
        <a:fontRef idx="minor"/>
      </dsp:style>
      <dsp:txBody>
        <a:bodyPr spcFirstLastPara="0" vert="horz" wrap="square" lIns="426720" tIns="76200" rIns="426720" bIns="76200" numCol="1" spcCol="1270" anchor="ctr" anchorCtr="0">
          <a:noAutofit/>
        </a:bodyPr>
        <a:lstStyle/>
        <a:p>
          <a:pPr marL="0" lvl="0" indent="0" algn="ctr" defTabSz="2667000">
            <a:lnSpc>
              <a:spcPct val="90000"/>
            </a:lnSpc>
            <a:spcBef>
              <a:spcPct val="0"/>
            </a:spcBef>
            <a:spcAft>
              <a:spcPct val="35000"/>
            </a:spcAft>
            <a:buNone/>
          </a:pPr>
          <a:r>
            <a:rPr lang="tr-TR" sz="6000" kern="1200" dirty="0"/>
            <a:t>%70 Train Set</a:t>
          </a:r>
          <a:endParaRPr lang="en-US" sz="6000" kern="1200" dirty="0"/>
        </a:p>
      </dsp:txBody>
      <dsp:txXfrm>
        <a:off x="3517242" y="1967044"/>
        <a:ext cx="3517242" cy="174007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760275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7376684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728704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45112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41410" y="3073397"/>
            <a:ext cx="4878391" cy="271780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3073397"/>
            <a:ext cx="4875210" cy="271780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31BA835-12AC-4E8F-955A-EA3F4DE2791F}" type="datetime1">
              <a:rPr lang="en-US" smtClean="0"/>
              <a:t>3/24/2026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8847873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E31BA835-12AC-4E8F-955A-EA3F4DE2791F}" type="datetime1">
              <a:rPr lang="en-US" smtClean="0"/>
              <a:t>3/24/2026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80136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1BA835-12AC-4E8F-955A-EA3F4DE2791F}" type="datetime1">
              <a:rPr lang="en-US" smtClean="0"/>
              <a:t>3/24/2026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153738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874743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2323879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tr-TR"/>
              <a:t>Resim eklemek için simgeye tıklayın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0970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1955427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620258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31BA835-12AC-4E8F-955A-EA3F4DE2791F}"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524550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E31BA835-12AC-4E8F-955A-EA3F4DE2791F}" type="datetime1">
              <a:rPr lang="en-US" smtClean="0"/>
              <a:t>3/24/2026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3483578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E31BA835-12AC-4E8F-955A-EA3F4DE2791F}" type="datetime1">
              <a:rPr lang="en-US" smtClean="0"/>
              <a:t>3/24/2026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786922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4765778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6452640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31BA835-12AC-4E8F-955A-EA3F4DE2791F}" type="datetime1">
              <a:rPr lang="en-US" smtClean="0"/>
              <a:t>3/24/2026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113850731"/>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rchive.ics.uci.edu/dataset/350/default+of+credit+card+clients" TargetMode="External"/><Relationship Id="rId7" Type="http://schemas.openxmlformats.org/officeDocument/2006/relationships/hyperlink" Target="https://seaborn.pydata.org/tutorial.html"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pandas.pydata.org/docs/user_guide/index.html" TargetMode="External"/><Relationship Id="rId5" Type="http://schemas.openxmlformats.org/officeDocument/2006/relationships/hyperlink" Target="https://scikit-learn.org/stable/user_guide.html" TargetMode="External"/><Relationship Id="rId4" Type="http://schemas.openxmlformats.org/officeDocument/2006/relationships/hyperlink" Target="https://www.datylon.com/blog/types-of-charts-graphs-examples-data-visualiz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4" name="Picture 3">
            <a:extLst>
              <a:ext uri="{FF2B5EF4-FFF2-40B4-BE49-F238E27FC236}">
                <a16:creationId xmlns:a16="http://schemas.microsoft.com/office/drawing/2014/main" id="{2D210979-BA7C-DD9D-CC36-5AF0BD21A7E2}"/>
              </a:ext>
            </a:extLst>
          </p:cNvPr>
          <p:cNvPicPr>
            <a:picLocks noChangeAspect="1"/>
          </p:cNvPicPr>
          <p:nvPr/>
        </p:nvPicPr>
        <p:blipFill>
          <a:blip r:embed="rId4">
            <a:alphaModFix amt="30000"/>
          </a:blip>
          <a:srcRect t="38447" b="5286"/>
          <a:stretch>
            <a:fillRect/>
          </a:stretch>
        </p:blipFill>
        <p:spPr>
          <a:xfrm>
            <a:off x="-2" y="10"/>
            <a:ext cx="12188389" cy="6857990"/>
          </a:xfrm>
          <a:prstGeom prst="rect">
            <a:avLst/>
          </a:prstGeom>
        </p:spPr>
      </p:pic>
      <p:grpSp>
        <p:nvGrpSpPr>
          <p:cNvPr id="14" name="Group 13">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8"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9"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0"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1"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2"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3"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4"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5"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6"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7"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8"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9"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0"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1"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2"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3"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4"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5"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6"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grpSp>
      <p:sp>
        <p:nvSpPr>
          <p:cNvPr id="2" name="Başlık 1">
            <a:extLst>
              <a:ext uri="{FF2B5EF4-FFF2-40B4-BE49-F238E27FC236}">
                <a16:creationId xmlns:a16="http://schemas.microsoft.com/office/drawing/2014/main" id="{3F3658E8-1E21-028B-3130-653AF49895DD}"/>
              </a:ext>
            </a:extLst>
          </p:cNvPr>
          <p:cNvSpPr>
            <a:spLocks noGrp="1"/>
          </p:cNvSpPr>
          <p:nvPr>
            <p:ph type="ctrTitle"/>
          </p:nvPr>
        </p:nvSpPr>
        <p:spPr>
          <a:xfrm>
            <a:off x="2842222" y="2393472"/>
            <a:ext cx="6667500" cy="813013"/>
          </a:xfrm>
        </p:spPr>
        <p:txBody>
          <a:bodyPr>
            <a:normAutofit/>
          </a:bodyPr>
          <a:lstStyle/>
          <a:p>
            <a:pPr algn="ctr"/>
            <a:r>
              <a:rPr lang="tr-TR" dirty="0"/>
              <a:t>FINTECH PROJECT</a:t>
            </a:r>
          </a:p>
        </p:txBody>
      </p:sp>
      <p:sp>
        <p:nvSpPr>
          <p:cNvPr id="3" name="Alt Başlık 2">
            <a:extLst>
              <a:ext uri="{FF2B5EF4-FFF2-40B4-BE49-F238E27FC236}">
                <a16:creationId xmlns:a16="http://schemas.microsoft.com/office/drawing/2014/main" id="{C6A646A0-BBBA-4832-B30F-6143BF447C62}"/>
              </a:ext>
            </a:extLst>
          </p:cNvPr>
          <p:cNvSpPr>
            <a:spLocks noGrp="1"/>
          </p:cNvSpPr>
          <p:nvPr>
            <p:ph type="subTitle" idx="1"/>
          </p:nvPr>
        </p:nvSpPr>
        <p:spPr>
          <a:xfrm>
            <a:off x="4473324" y="3303187"/>
            <a:ext cx="3405295" cy="1226346"/>
          </a:xfrm>
        </p:spPr>
        <p:txBody>
          <a:bodyPr>
            <a:normAutofit/>
          </a:bodyPr>
          <a:lstStyle/>
          <a:p>
            <a:pPr algn="ctr">
              <a:lnSpc>
                <a:spcPct val="110000"/>
              </a:lnSpc>
            </a:pPr>
            <a:r>
              <a:rPr lang="tr-TR" sz="1600" b="1" dirty="0" err="1"/>
              <a:t>Group</a:t>
            </a:r>
            <a:r>
              <a:rPr lang="tr-TR" sz="1600" b="1" dirty="0"/>
              <a:t> </a:t>
            </a:r>
            <a:r>
              <a:rPr lang="tr-TR" sz="1600" b="1" dirty="0" err="1"/>
              <a:t>Members</a:t>
            </a:r>
            <a:r>
              <a:rPr lang="tr-TR" sz="1600" b="1" dirty="0"/>
              <a:t>:</a:t>
            </a:r>
          </a:p>
          <a:p>
            <a:pPr algn="ctr">
              <a:lnSpc>
                <a:spcPct val="110000"/>
              </a:lnSpc>
            </a:pPr>
            <a:r>
              <a:rPr lang="tr-TR" sz="1600" dirty="0"/>
              <a:t>İsmail Talha ILICA </a:t>
            </a:r>
          </a:p>
          <a:p>
            <a:pPr algn="ctr">
              <a:lnSpc>
                <a:spcPct val="110000"/>
              </a:lnSpc>
            </a:pPr>
            <a:r>
              <a:rPr lang="en-US" sz="1600" dirty="0"/>
              <a:t>Bilal Emra </a:t>
            </a:r>
            <a:r>
              <a:rPr lang="en-US" sz="1600" dirty="0" err="1"/>
              <a:t>Durmuş</a:t>
            </a:r>
            <a:endParaRPr lang="en-US" sz="1600" dirty="0"/>
          </a:p>
        </p:txBody>
      </p:sp>
      <p:sp>
        <p:nvSpPr>
          <p:cNvPr id="5" name="Metin kutusu 4">
            <a:extLst>
              <a:ext uri="{FF2B5EF4-FFF2-40B4-BE49-F238E27FC236}">
                <a16:creationId xmlns:a16="http://schemas.microsoft.com/office/drawing/2014/main" id="{B4E7E676-4C8C-9F58-DCD4-3A9DE336D801}"/>
              </a:ext>
            </a:extLst>
          </p:cNvPr>
          <p:cNvSpPr txBox="1"/>
          <p:nvPr/>
        </p:nvSpPr>
        <p:spPr>
          <a:xfrm>
            <a:off x="3074202" y="386636"/>
            <a:ext cx="6039979" cy="1461939"/>
          </a:xfrm>
          <a:prstGeom prst="rect">
            <a:avLst/>
          </a:prstGeom>
          <a:noFill/>
        </p:spPr>
        <p:txBody>
          <a:bodyPr wrap="square" rtlCol="0">
            <a:spAutoFit/>
          </a:bodyPr>
          <a:lstStyle/>
          <a:p>
            <a:pPr algn="ctr">
              <a:spcAft>
                <a:spcPts val="600"/>
              </a:spcAft>
            </a:pP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PredIctIng</a:t>
            </a:r>
            <a:r>
              <a:rPr kumimoji="0" lang="tr-TR" sz="2800" b="1" i="0" u="none" strike="noStrike" kern="1200" cap="all" spc="0" normalizeH="0" baseline="0" noProof="0" dirty="0">
                <a:ln>
                  <a:noFill/>
                </a:ln>
                <a:solidFill>
                  <a:schemeClr val="bg1"/>
                </a:solidFill>
                <a:effectLst/>
                <a:uLnTx/>
                <a:uFillTx/>
                <a:latin typeface="Tw Cen MT" panose="020B0602020104020603"/>
                <a:ea typeface="+mj-ea"/>
                <a:cs typeface="+mj-cs"/>
              </a:rPr>
              <a:t> </a:t>
            </a: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CredIt</a:t>
            </a:r>
            <a:r>
              <a:rPr kumimoji="0" lang="tr-TR" sz="2800" b="1" i="0" u="none" strike="noStrike" kern="1200" cap="all" spc="0" normalizeH="0" baseline="0" noProof="0" dirty="0">
                <a:ln>
                  <a:noFill/>
                </a:ln>
                <a:solidFill>
                  <a:schemeClr val="bg1"/>
                </a:solidFill>
                <a:effectLst/>
                <a:uLnTx/>
                <a:uFillTx/>
                <a:latin typeface="Tw Cen MT" panose="020B0602020104020603"/>
                <a:ea typeface="+mj-ea"/>
                <a:cs typeface="+mj-cs"/>
              </a:rPr>
              <a:t> </a:t>
            </a: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Card</a:t>
            </a:r>
            <a:r>
              <a:rPr kumimoji="0" lang="tr-TR" sz="2800" b="1" i="0" u="none" strike="noStrike" kern="1200" cap="all" spc="0" normalizeH="0" baseline="0" noProof="0" dirty="0">
                <a:ln>
                  <a:noFill/>
                </a:ln>
                <a:solidFill>
                  <a:schemeClr val="bg1"/>
                </a:solidFill>
                <a:effectLst/>
                <a:uLnTx/>
                <a:uFillTx/>
                <a:latin typeface="Tw Cen MT" panose="020B0602020104020603"/>
                <a:ea typeface="+mj-ea"/>
                <a:cs typeface="+mj-cs"/>
              </a:rPr>
              <a:t> </a:t>
            </a: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Defaults</a:t>
            </a:r>
            <a:r>
              <a:rPr kumimoji="0" lang="tr-TR" sz="2800" b="1" i="0" u="none" strike="noStrike" kern="1200" cap="all" spc="0" normalizeH="0" baseline="0" noProof="0" dirty="0">
                <a:ln>
                  <a:noFill/>
                </a:ln>
                <a:solidFill>
                  <a:schemeClr val="bg1"/>
                </a:solidFill>
                <a:effectLst/>
                <a:uLnTx/>
                <a:uFillTx/>
                <a:latin typeface="Tw Cen MT" panose="020B0602020104020603"/>
                <a:ea typeface="+mj-ea"/>
                <a:cs typeface="+mj-cs"/>
              </a:rPr>
              <a:t> </a:t>
            </a: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WIth</a:t>
            </a:r>
            <a:r>
              <a:rPr kumimoji="0" lang="tr-TR" sz="2800" b="1" i="0" u="none" strike="noStrike" kern="1200" cap="all" spc="0" normalizeH="0" baseline="0" noProof="0" dirty="0">
                <a:ln>
                  <a:noFill/>
                </a:ln>
                <a:solidFill>
                  <a:schemeClr val="bg1"/>
                </a:solidFill>
                <a:effectLst/>
                <a:uLnTx/>
                <a:uFillTx/>
                <a:latin typeface="Tw Cen MT" panose="020B0602020104020603"/>
                <a:ea typeface="+mj-ea"/>
                <a:cs typeface="+mj-cs"/>
              </a:rPr>
              <a:t> </a:t>
            </a:r>
          </a:p>
          <a:p>
            <a:pPr algn="ctr">
              <a:spcAft>
                <a:spcPts val="600"/>
              </a:spcAft>
            </a:pP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MachIne</a:t>
            </a:r>
            <a:r>
              <a:rPr kumimoji="0" lang="tr-TR" sz="2800" b="1" i="0" u="none" strike="noStrike" kern="1200" cap="all" spc="0" normalizeH="0" baseline="0" noProof="0" dirty="0">
                <a:ln>
                  <a:noFill/>
                </a:ln>
                <a:solidFill>
                  <a:schemeClr val="bg1"/>
                </a:solidFill>
                <a:effectLst/>
                <a:uLnTx/>
                <a:uFillTx/>
                <a:latin typeface="Tw Cen MT" panose="020B0602020104020603"/>
                <a:ea typeface="+mj-ea"/>
                <a:cs typeface="+mj-cs"/>
              </a:rPr>
              <a:t> </a:t>
            </a:r>
            <a:r>
              <a:rPr kumimoji="0" lang="tr-TR" sz="2800" b="1" i="0" u="none" strike="noStrike" kern="1200" cap="all" spc="0" normalizeH="0" baseline="0" noProof="0" dirty="0" err="1">
                <a:ln>
                  <a:noFill/>
                </a:ln>
                <a:solidFill>
                  <a:schemeClr val="bg1"/>
                </a:solidFill>
                <a:effectLst/>
                <a:uLnTx/>
                <a:uFillTx/>
                <a:latin typeface="Tw Cen MT" panose="020B0602020104020603"/>
                <a:ea typeface="+mj-ea"/>
                <a:cs typeface="+mj-cs"/>
              </a:rPr>
              <a:t>LearnIng</a:t>
            </a:r>
            <a:endParaRPr lang="tr-TR" sz="2000" dirty="0">
              <a:solidFill>
                <a:schemeClr val="bg1"/>
              </a:solidFill>
            </a:endParaRPr>
          </a:p>
        </p:txBody>
      </p:sp>
    </p:spTree>
    <p:extLst>
      <p:ext uri="{BB962C8B-B14F-4D97-AF65-F5344CB8AC3E}">
        <p14:creationId xmlns:p14="http://schemas.microsoft.com/office/powerpoint/2010/main" val="4201299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D1DF69-353B-628A-0F31-9F5AF724EC44}"/>
              </a:ext>
            </a:extLst>
          </p:cNvPr>
          <p:cNvSpPr>
            <a:spLocks noGrp="1"/>
          </p:cNvSpPr>
          <p:nvPr>
            <p:ph type="title"/>
          </p:nvPr>
        </p:nvSpPr>
        <p:spPr>
          <a:xfrm>
            <a:off x="1141413" y="618518"/>
            <a:ext cx="9905998" cy="1478570"/>
          </a:xfrm>
        </p:spPr>
        <p:txBody>
          <a:bodyPr>
            <a:normAutofit/>
          </a:bodyPr>
          <a:lstStyle/>
          <a:p>
            <a:r>
              <a:rPr lang="tr-TR" b="1" dirty="0" err="1"/>
              <a:t>PredIctIng</a:t>
            </a:r>
            <a:r>
              <a:rPr lang="tr-TR" b="1" dirty="0"/>
              <a:t> </a:t>
            </a:r>
            <a:r>
              <a:rPr lang="tr-TR" b="1" dirty="0" err="1"/>
              <a:t>CredIt</a:t>
            </a:r>
            <a:r>
              <a:rPr lang="tr-TR" b="1" dirty="0"/>
              <a:t> </a:t>
            </a:r>
            <a:r>
              <a:rPr lang="tr-TR" b="1" dirty="0" err="1"/>
              <a:t>Card</a:t>
            </a:r>
            <a:r>
              <a:rPr lang="tr-TR" b="1" dirty="0"/>
              <a:t> </a:t>
            </a:r>
            <a:r>
              <a:rPr lang="tr-TR" b="1" dirty="0" err="1"/>
              <a:t>Defaults</a:t>
            </a:r>
            <a:r>
              <a:rPr lang="tr-TR" b="1" dirty="0"/>
              <a:t> </a:t>
            </a:r>
            <a:r>
              <a:rPr lang="tr-TR" b="1" dirty="0" err="1"/>
              <a:t>WIth</a:t>
            </a:r>
            <a:r>
              <a:rPr lang="tr-TR" b="1" dirty="0"/>
              <a:t> </a:t>
            </a:r>
            <a:r>
              <a:rPr lang="tr-TR" b="1" dirty="0" err="1"/>
              <a:t>MachIne</a:t>
            </a:r>
            <a:r>
              <a:rPr lang="tr-TR" b="1" dirty="0"/>
              <a:t> </a:t>
            </a:r>
            <a:r>
              <a:rPr lang="tr-TR" b="1" dirty="0" err="1"/>
              <a:t>LearnIng</a:t>
            </a:r>
            <a:endParaRPr lang="tr-TR" b="1" dirty="0"/>
          </a:p>
        </p:txBody>
      </p:sp>
      <p:pic>
        <p:nvPicPr>
          <p:cNvPr id="7" name="Graphic 6" descr="Hedef merkezi">
            <a:extLst>
              <a:ext uri="{FF2B5EF4-FFF2-40B4-BE49-F238E27FC236}">
                <a16:creationId xmlns:a16="http://schemas.microsoft.com/office/drawing/2014/main" id="{57EF5DBC-25A7-DF78-0A29-507799C98A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11203" y="2249487"/>
            <a:ext cx="3549650" cy="354965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3" name="İçerik Yer Tutucusu 2">
            <a:extLst>
              <a:ext uri="{FF2B5EF4-FFF2-40B4-BE49-F238E27FC236}">
                <a16:creationId xmlns:a16="http://schemas.microsoft.com/office/drawing/2014/main" id="{6874A8BB-AA64-AC4C-0269-2A1A9BC1D456}"/>
              </a:ext>
            </a:extLst>
          </p:cNvPr>
          <p:cNvSpPr>
            <a:spLocks noGrp="1"/>
          </p:cNvSpPr>
          <p:nvPr>
            <p:ph idx="1"/>
          </p:nvPr>
        </p:nvSpPr>
        <p:spPr>
          <a:xfrm>
            <a:off x="6336727" y="2249487"/>
            <a:ext cx="4710683" cy="3541714"/>
          </a:xfrm>
        </p:spPr>
        <p:txBody>
          <a:bodyPr>
            <a:normAutofit/>
          </a:bodyPr>
          <a:lstStyle/>
          <a:p>
            <a:pPr marL="0" indent="0">
              <a:lnSpc>
                <a:spcPct val="110000"/>
              </a:lnSpc>
              <a:buNone/>
            </a:pPr>
            <a:r>
              <a:rPr lang="tr-TR" sz="2000" b="1"/>
              <a:t> A)   </a:t>
            </a:r>
            <a:r>
              <a:rPr lang="en-US" sz="2000"/>
              <a:t>The goal of this project is to create a machine learning model that predicts if a customer will fail to pay their credit card bill next month. We used the UCI Credit Card Default dataset, which contains 30,000 entries. After cleaning the data and creating new variables (like average payment delays and billing ratios), we tested classification models such as Logistic Regression, Random Forest, and K-Nearest Neighbors.</a:t>
            </a:r>
            <a:endParaRPr lang="tr-TR" sz="2000"/>
          </a:p>
        </p:txBody>
      </p:sp>
    </p:spTree>
    <p:extLst>
      <p:ext uri="{BB962C8B-B14F-4D97-AF65-F5344CB8AC3E}">
        <p14:creationId xmlns:p14="http://schemas.microsoft.com/office/powerpoint/2010/main" val="1918552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10D1DF69-353B-628A-0F31-9F5AF724EC44}"/>
              </a:ext>
            </a:extLst>
          </p:cNvPr>
          <p:cNvSpPr>
            <a:spLocks noGrp="1"/>
          </p:cNvSpPr>
          <p:nvPr>
            <p:ph type="title"/>
          </p:nvPr>
        </p:nvSpPr>
        <p:spPr>
          <a:xfrm>
            <a:off x="1141413" y="1082673"/>
            <a:ext cx="2869416" cy="4708528"/>
          </a:xfrm>
        </p:spPr>
        <p:txBody>
          <a:bodyPr>
            <a:normAutofit/>
          </a:bodyPr>
          <a:lstStyle/>
          <a:p>
            <a:pPr algn="r"/>
            <a:r>
              <a:rPr lang="tr-TR" sz="4000" b="1" dirty="0" err="1"/>
              <a:t>PredIctIng</a:t>
            </a:r>
            <a:r>
              <a:rPr lang="tr-TR" sz="4000" b="1" dirty="0"/>
              <a:t> </a:t>
            </a:r>
            <a:r>
              <a:rPr lang="tr-TR" sz="4000" b="1" dirty="0" err="1"/>
              <a:t>CredIt</a:t>
            </a:r>
            <a:r>
              <a:rPr lang="tr-TR" sz="4000" b="1" dirty="0"/>
              <a:t> </a:t>
            </a:r>
            <a:r>
              <a:rPr lang="tr-TR" sz="4000" b="1" dirty="0" err="1"/>
              <a:t>Card</a:t>
            </a:r>
            <a:r>
              <a:rPr lang="tr-TR" sz="4000" b="1" dirty="0"/>
              <a:t> </a:t>
            </a:r>
            <a:r>
              <a:rPr lang="tr-TR" sz="4000" b="1" dirty="0" err="1"/>
              <a:t>Defaults</a:t>
            </a:r>
            <a:r>
              <a:rPr lang="tr-TR" sz="4000" b="1" dirty="0"/>
              <a:t> </a:t>
            </a:r>
            <a:r>
              <a:rPr lang="tr-TR" sz="4000" b="1" dirty="0" err="1"/>
              <a:t>WIth</a:t>
            </a:r>
            <a:r>
              <a:rPr lang="tr-TR" sz="4000" b="1" dirty="0"/>
              <a:t> </a:t>
            </a:r>
            <a:r>
              <a:rPr lang="tr-TR" sz="4000" b="1" dirty="0" err="1"/>
              <a:t>MachIne</a:t>
            </a:r>
            <a:r>
              <a:rPr lang="tr-TR" sz="4000" b="1" dirty="0"/>
              <a:t> </a:t>
            </a:r>
            <a:r>
              <a:rPr lang="tr-TR" sz="4000" b="1" dirty="0" err="1"/>
              <a:t>LearnIng</a:t>
            </a:r>
            <a:endParaRPr lang="tr-TR" sz="4000" b="1" dirty="0"/>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6874A8BB-AA64-AC4C-0269-2A1A9BC1D456}"/>
              </a:ext>
            </a:extLst>
          </p:cNvPr>
          <p:cNvSpPr>
            <a:spLocks noGrp="1"/>
          </p:cNvSpPr>
          <p:nvPr>
            <p:ph idx="1"/>
          </p:nvPr>
        </p:nvSpPr>
        <p:spPr>
          <a:xfrm>
            <a:off x="5297763" y="1082673"/>
            <a:ext cx="5751237" cy="4708528"/>
          </a:xfrm>
        </p:spPr>
        <p:txBody>
          <a:bodyPr anchor="ctr">
            <a:normAutofit/>
          </a:bodyPr>
          <a:lstStyle/>
          <a:p>
            <a:pPr marL="0" indent="0">
              <a:buNone/>
            </a:pPr>
            <a:r>
              <a:rPr lang="tr-TR" sz="1800" b="1" dirty="0"/>
              <a:t>B)   </a:t>
            </a:r>
            <a:r>
              <a:rPr lang="en-US" sz="1800" dirty="0"/>
              <a:t>We also looked at how personal details such as age, gender, education level, and marital status influence the chance of missing a payment. We judged how well the models worked using tools like F1-scores and confusion matrices. This work demonstrates how machine learning can help with making actual financial decisions.</a:t>
            </a:r>
            <a:endParaRPr lang="tr-TR" sz="1800" dirty="0"/>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spTree>
    <p:extLst>
      <p:ext uri="{BB962C8B-B14F-4D97-AF65-F5344CB8AC3E}">
        <p14:creationId xmlns:p14="http://schemas.microsoft.com/office/powerpoint/2010/main" val="91385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5D0EC7C-C21B-2CD3-2DD9-4915607C76F6}"/>
              </a:ext>
            </a:extLst>
          </p:cNvPr>
          <p:cNvSpPr>
            <a:spLocks noGrp="1"/>
          </p:cNvSpPr>
          <p:nvPr>
            <p:ph type="title"/>
          </p:nvPr>
        </p:nvSpPr>
        <p:spPr>
          <a:xfrm>
            <a:off x="3192780" y="501347"/>
            <a:ext cx="5806440" cy="1362682"/>
          </a:xfrm>
        </p:spPr>
        <p:txBody>
          <a:bodyPr>
            <a:normAutofit/>
          </a:bodyPr>
          <a:lstStyle/>
          <a:p>
            <a:r>
              <a:rPr lang="tr-TR" b="1" dirty="0" err="1">
                <a:latin typeface="Times New Roman" panose="02020603050405020304" pitchFamily="18" charset="0"/>
                <a:cs typeface="Times New Roman" panose="02020603050405020304" pitchFamily="18" charset="0"/>
              </a:rPr>
              <a:t>Names</a:t>
            </a:r>
            <a:r>
              <a:rPr lang="tr-TR" b="1" dirty="0">
                <a:latin typeface="Times New Roman" panose="02020603050405020304" pitchFamily="18" charset="0"/>
                <a:cs typeface="Times New Roman" panose="02020603050405020304" pitchFamily="18" charset="0"/>
              </a:rPr>
              <a:t> of </a:t>
            </a:r>
            <a:r>
              <a:rPr lang="tr-TR" b="1" dirty="0" err="1">
                <a:latin typeface="Times New Roman" panose="02020603050405020304" pitchFamily="18" charset="0"/>
                <a:cs typeface="Times New Roman" panose="02020603050405020304" pitchFamily="18" charset="0"/>
              </a:rPr>
              <a:t>the</a:t>
            </a:r>
            <a:r>
              <a:rPr lang="tr-TR" b="1" dirty="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Models</a:t>
            </a:r>
            <a:r>
              <a:rPr lang="tr-TR" b="1" dirty="0">
                <a:latin typeface="Times New Roman" panose="02020603050405020304" pitchFamily="18" charset="0"/>
                <a:cs typeface="Times New Roman" panose="02020603050405020304" pitchFamily="18" charset="0"/>
              </a:rPr>
              <a:t> </a:t>
            </a:r>
            <a:br>
              <a:rPr lang="tr-TR" b="1" dirty="0">
                <a:latin typeface="Times New Roman" panose="02020603050405020304" pitchFamily="18" charset="0"/>
                <a:cs typeface="Times New Roman" panose="02020603050405020304" pitchFamily="18" charset="0"/>
              </a:rPr>
            </a:br>
            <a:r>
              <a:rPr lang="tr-TR" b="1" dirty="0" err="1">
                <a:latin typeface="Times New Roman" panose="02020603050405020304" pitchFamily="18" charset="0"/>
                <a:cs typeface="Times New Roman" panose="02020603050405020304" pitchFamily="18" charset="0"/>
              </a:rPr>
              <a:t>used</a:t>
            </a:r>
            <a:r>
              <a:rPr lang="tr-TR" b="1" dirty="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ın</a:t>
            </a:r>
            <a:r>
              <a:rPr lang="tr-TR" b="1" dirty="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the</a:t>
            </a:r>
            <a:r>
              <a:rPr lang="tr-TR" b="1" dirty="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project</a:t>
            </a:r>
            <a:endParaRPr lang="tr-TR" b="1" dirty="0">
              <a:latin typeface="Times New Roman" panose="02020603050405020304" pitchFamily="18" charset="0"/>
              <a:cs typeface="Times New Roman" panose="02020603050405020304" pitchFamily="18" charset="0"/>
            </a:endParaRPr>
          </a:p>
        </p:txBody>
      </p:sp>
      <p:graphicFrame>
        <p:nvGraphicFramePr>
          <p:cNvPr id="19" name="İçerik Yer Tutucusu 2">
            <a:extLst>
              <a:ext uri="{FF2B5EF4-FFF2-40B4-BE49-F238E27FC236}">
                <a16:creationId xmlns:a16="http://schemas.microsoft.com/office/drawing/2014/main" id="{15CC79AB-F065-DB3A-E025-74A547874F42}"/>
              </a:ext>
            </a:extLst>
          </p:cNvPr>
          <p:cNvGraphicFramePr>
            <a:graphicFrameLocks noGrp="1"/>
          </p:cNvGraphicFramePr>
          <p:nvPr>
            <p:ph idx="1"/>
            <p:extLst>
              <p:ext uri="{D42A27DB-BD31-4B8C-83A1-F6EECF244321}">
                <p14:modId xmlns:p14="http://schemas.microsoft.com/office/powerpoint/2010/main" val="1267418032"/>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846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5744F74-6A0D-30FB-EDEB-04DE6FA1F63B}"/>
              </a:ext>
            </a:extLst>
          </p:cNvPr>
          <p:cNvSpPr>
            <a:spLocks noGrp="1"/>
          </p:cNvSpPr>
          <p:nvPr>
            <p:ph type="title"/>
          </p:nvPr>
        </p:nvSpPr>
        <p:spPr>
          <a:xfrm>
            <a:off x="3049508" y="243057"/>
            <a:ext cx="6092984" cy="674113"/>
          </a:xfrm>
        </p:spPr>
        <p:txBody>
          <a:bodyPr>
            <a:normAutofit fontScale="90000"/>
          </a:bodyPr>
          <a:lstStyle/>
          <a:p>
            <a:r>
              <a:rPr lang="tr-TR" sz="3300" dirty="0" err="1"/>
              <a:t>Dataset</a:t>
            </a:r>
            <a:r>
              <a:rPr lang="tr-TR" sz="3300" dirty="0"/>
              <a:t> </a:t>
            </a:r>
            <a:r>
              <a:rPr lang="tr-TR" sz="3300" dirty="0" err="1"/>
              <a:t>ınformatıon</a:t>
            </a:r>
            <a:r>
              <a:rPr lang="tr-TR" sz="3300" dirty="0"/>
              <a:t> </a:t>
            </a:r>
            <a:r>
              <a:rPr lang="tr-TR" sz="3300" dirty="0" err="1"/>
              <a:t>and</a:t>
            </a:r>
            <a:r>
              <a:rPr lang="tr-TR" sz="3300" dirty="0"/>
              <a:t> </a:t>
            </a:r>
            <a:r>
              <a:rPr lang="tr-TR" sz="3300" dirty="0" err="1"/>
              <a:t>sample</a:t>
            </a:r>
            <a:endParaRPr lang="tr-TR" sz="3300" dirty="0"/>
          </a:p>
        </p:txBody>
      </p:sp>
      <p:sp>
        <p:nvSpPr>
          <p:cNvPr id="3" name="İçerik Yer Tutucusu 2">
            <a:extLst>
              <a:ext uri="{FF2B5EF4-FFF2-40B4-BE49-F238E27FC236}">
                <a16:creationId xmlns:a16="http://schemas.microsoft.com/office/drawing/2014/main" id="{70C403CC-BB80-00C7-D2D8-4E2100E77392}"/>
              </a:ext>
            </a:extLst>
          </p:cNvPr>
          <p:cNvSpPr>
            <a:spLocks noGrp="1"/>
          </p:cNvSpPr>
          <p:nvPr>
            <p:ph idx="1"/>
          </p:nvPr>
        </p:nvSpPr>
        <p:spPr>
          <a:xfrm>
            <a:off x="998219" y="1026621"/>
            <a:ext cx="10317479" cy="2752250"/>
          </a:xfrm>
        </p:spPr>
        <p:txBody>
          <a:bodyPr>
            <a:normAutofit/>
          </a:bodyPr>
          <a:lstStyle/>
          <a:p>
            <a:pPr marL="0" indent="0">
              <a:lnSpc>
                <a:spcPct val="110000"/>
              </a:lnSpc>
              <a:buNone/>
            </a:pPr>
            <a:r>
              <a:rPr lang="tr-TR" sz="1700" dirty="0"/>
              <a:t>      </a:t>
            </a:r>
            <a:r>
              <a:rPr lang="tr-TR" sz="1700" dirty="0" err="1"/>
              <a:t>We</a:t>
            </a:r>
            <a:r>
              <a:rPr lang="en-US" sz="1700" dirty="0"/>
              <a:t> used a simple yes/no variable for default payment (Yes = 1, No = 0) as the main target. We looked at previous research and chose the following 23 variables to explain the results: X1 is the credit limit (in NT dollars), covering both the individual and their family. X2 is Gender (1 for male, 2 for female). X3 is Education (1 for graduate school, 2 for university, 3 for high school, 4 for others). X4 is Marital status (1 for married, 2 for single, 3 for others). X5 is Age in years. Variables X6 through X11 track payment history from April to September 2005. Specifically: X6 is the status in September, X7 is August, down to X11 in April. The scale uses -1 for paying on time, 1 for a one-month delay, up to 9 for delays of nine months or more. Variables X12 to X17 show the bill statement amounts (in NT dollars) for those same months. Finally, X18 to X23 represent the actual amount paid (in NT dollars) for each month from September back to April.</a:t>
            </a:r>
            <a:endParaRPr lang="tr-TR" sz="1700" b="1" dirty="0"/>
          </a:p>
        </p:txBody>
      </p:sp>
      <p:pic>
        <p:nvPicPr>
          <p:cNvPr id="4" name="Resim 3">
            <a:extLst>
              <a:ext uri="{FF2B5EF4-FFF2-40B4-BE49-F238E27FC236}">
                <a16:creationId xmlns:a16="http://schemas.microsoft.com/office/drawing/2014/main" id="{D88D0E9B-0AB6-6360-2BE5-0A356DA0D82F}"/>
              </a:ext>
            </a:extLst>
          </p:cNvPr>
          <p:cNvPicPr>
            <a:picLocks/>
          </p:cNvPicPr>
          <p:nvPr/>
        </p:nvPicPr>
        <p:blipFill>
          <a:blip r:embed="rId3"/>
          <a:stretch>
            <a:fillRect/>
          </a:stretch>
        </p:blipFill>
        <p:spPr>
          <a:xfrm>
            <a:off x="998220" y="3997773"/>
            <a:ext cx="10317479" cy="213360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24229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212F945-7736-C7A2-3C34-7B4669A63B22}"/>
              </a:ext>
            </a:extLst>
          </p:cNvPr>
          <p:cNvSpPr>
            <a:spLocks noGrp="1"/>
          </p:cNvSpPr>
          <p:nvPr>
            <p:ph type="title"/>
          </p:nvPr>
        </p:nvSpPr>
        <p:spPr>
          <a:xfrm>
            <a:off x="2993866" y="534697"/>
            <a:ext cx="6204267" cy="852143"/>
          </a:xfrm>
        </p:spPr>
        <p:txBody>
          <a:bodyPr>
            <a:normAutofit fontScale="90000"/>
          </a:bodyPr>
          <a:lstStyle/>
          <a:p>
            <a:r>
              <a:rPr lang="tr-TR" sz="3300" dirty="0"/>
              <a:t>Test set </a:t>
            </a:r>
            <a:r>
              <a:rPr lang="tr-TR" sz="3300" dirty="0" err="1"/>
              <a:t>and</a:t>
            </a:r>
            <a:r>
              <a:rPr lang="tr-TR" sz="3300" dirty="0"/>
              <a:t> </a:t>
            </a:r>
            <a:r>
              <a:rPr lang="tr-TR" sz="3300" dirty="0" err="1"/>
              <a:t>traınıng</a:t>
            </a:r>
            <a:r>
              <a:rPr lang="tr-TR" sz="3300" dirty="0"/>
              <a:t> set </a:t>
            </a:r>
            <a:r>
              <a:rPr lang="tr-TR" sz="3300" dirty="0" err="1"/>
              <a:t>dıvısıon</a:t>
            </a:r>
            <a:endParaRPr lang="tr-TR" sz="3300" dirty="0"/>
          </a:p>
        </p:txBody>
      </p:sp>
      <p:graphicFrame>
        <p:nvGraphicFramePr>
          <p:cNvPr id="5" name="İçerik Yer Tutucusu 2">
            <a:extLst>
              <a:ext uri="{FF2B5EF4-FFF2-40B4-BE49-F238E27FC236}">
                <a16:creationId xmlns:a16="http://schemas.microsoft.com/office/drawing/2014/main" id="{E3A787E4-8C5B-4210-D795-CF52CBABAA80}"/>
              </a:ext>
            </a:extLst>
          </p:cNvPr>
          <p:cNvGraphicFramePr>
            <a:graphicFrameLocks noGrp="1"/>
          </p:cNvGraphicFramePr>
          <p:nvPr>
            <p:ph idx="1"/>
            <p:extLst>
              <p:ext uri="{D42A27DB-BD31-4B8C-83A1-F6EECF244321}">
                <p14:modId xmlns:p14="http://schemas.microsoft.com/office/powerpoint/2010/main" val="4199148539"/>
              </p:ext>
            </p:extLst>
          </p:nvPr>
        </p:nvGraphicFramePr>
        <p:xfrm>
          <a:off x="2578756" y="2025490"/>
          <a:ext cx="7034485" cy="37827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0264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28870E-3E74-A591-E236-BB6F416452B7}"/>
              </a:ext>
            </a:extLst>
          </p:cNvPr>
          <p:cNvSpPr>
            <a:spLocks noGrp="1"/>
          </p:cNvSpPr>
          <p:nvPr>
            <p:ph type="title"/>
          </p:nvPr>
        </p:nvSpPr>
        <p:spPr>
          <a:xfrm>
            <a:off x="971550" y="121544"/>
            <a:ext cx="9905998" cy="1478570"/>
          </a:xfrm>
        </p:spPr>
        <p:txBody>
          <a:bodyPr/>
          <a:lstStyle/>
          <a:p>
            <a:r>
              <a:rPr lang="tr-TR" dirty="0" err="1"/>
              <a:t>Confusıon</a:t>
            </a:r>
            <a:r>
              <a:rPr lang="tr-TR" dirty="0"/>
              <a:t> </a:t>
            </a:r>
            <a:r>
              <a:rPr lang="tr-TR" dirty="0" err="1"/>
              <a:t>matrıCes</a:t>
            </a:r>
            <a:endParaRPr lang="tr-TR" dirty="0"/>
          </a:p>
        </p:txBody>
      </p:sp>
      <p:graphicFrame>
        <p:nvGraphicFramePr>
          <p:cNvPr id="6" name="Tablo 5">
            <a:extLst>
              <a:ext uri="{FF2B5EF4-FFF2-40B4-BE49-F238E27FC236}">
                <a16:creationId xmlns:a16="http://schemas.microsoft.com/office/drawing/2014/main" id="{4AA707E3-A3E6-F352-EFA8-9E6279B90DA0}"/>
              </a:ext>
            </a:extLst>
          </p:cNvPr>
          <p:cNvGraphicFramePr>
            <a:graphicFrameLocks noGrp="1"/>
          </p:cNvGraphicFramePr>
          <p:nvPr>
            <p:extLst>
              <p:ext uri="{D42A27DB-BD31-4B8C-83A1-F6EECF244321}">
                <p14:modId xmlns:p14="http://schemas.microsoft.com/office/powerpoint/2010/main" val="1117432803"/>
              </p:ext>
            </p:extLst>
          </p:nvPr>
        </p:nvGraphicFramePr>
        <p:xfrm>
          <a:off x="971550" y="1600114"/>
          <a:ext cx="3839409" cy="1656080"/>
        </p:xfrm>
        <a:graphic>
          <a:graphicData uri="http://schemas.openxmlformats.org/drawingml/2006/table">
            <a:tbl>
              <a:tblPr firstRow="1" bandRow="1">
                <a:tableStyleId>{5C22544A-7EE6-4342-B048-85BDC9FD1C3A}</a:tableStyleId>
              </a:tblPr>
              <a:tblGrid>
                <a:gridCol w="1279803">
                  <a:extLst>
                    <a:ext uri="{9D8B030D-6E8A-4147-A177-3AD203B41FA5}">
                      <a16:colId xmlns:a16="http://schemas.microsoft.com/office/drawing/2014/main" val="884817039"/>
                    </a:ext>
                  </a:extLst>
                </a:gridCol>
                <a:gridCol w="1279803">
                  <a:extLst>
                    <a:ext uri="{9D8B030D-6E8A-4147-A177-3AD203B41FA5}">
                      <a16:colId xmlns:a16="http://schemas.microsoft.com/office/drawing/2014/main" val="818438382"/>
                    </a:ext>
                  </a:extLst>
                </a:gridCol>
                <a:gridCol w="1279803">
                  <a:extLst>
                    <a:ext uri="{9D8B030D-6E8A-4147-A177-3AD203B41FA5}">
                      <a16:colId xmlns:a16="http://schemas.microsoft.com/office/drawing/2014/main" val="2772846269"/>
                    </a:ext>
                  </a:extLst>
                </a:gridCol>
              </a:tblGrid>
              <a:tr h="370840">
                <a:tc rowSpan="2">
                  <a:txBody>
                    <a:bodyPr/>
                    <a:lstStyle/>
                    <a:p>
                      <a:pPr algn="ctr"/>
                      <a:endParaRPr lang="tr-TR" dirty="0"/>
                    </a:p>
                    <a:p>
                      <a:pPr algn="ctr"/>
                      <a:r>
                        <a:rPr lang="tr-TR" dirty="0"/>
                        <a:t>1</a:t>
                      </a:r>
                    </a:p>
                    <a:p>
                      <a:pPr algn="ctr"/>
                      <a:endParaRPr lang="tr-TR" dirty="0"/>
                    </a:p>
                  </a:txBody>
                  <a:tcPr/>
                </a:tc>
                <a:tc gridSpan="2">
                  <a:txBody>
                    <a:bodyPr/>
                    <a:lstStyle/>
                    <a:p>
                      <a:pPr algn="ctr"/>
                      <a:r>
                        <a:rPr lang="tr-TR" dirty="0"/>
                        <a:t>KNN</a:t>
                      </a:r>
                    </a:p>
                  </a:txBody>
                  <a:tcPr/>
                </a:tc>
                <a:tc hMerge="1">
                  <a:txBody>
                    <a:bodyPr/>
                    <a:lstStyle/>
                    <a:p>
                      <a:endParaRPr lang="tr-TR" dirty="0"/>
                    </a:p>
                  </a:txBody>
                  <a:tcPr/>
                </a:tc>
                <a:extLst>
                  <a:ext uri="{0D108BD9-81ED-4DB2-BD59-A6C34878D82A}">
                    <a16:rowId xmlns:a16="http://schemas.microsoft.com/office/drawing/2014/main" val="3072786080"/>
                  </a:ext>
                </a:extLst>
              </a:tr>
              <a:tr h="370840">
                <a:tc vMerge="1">
                  <a:txBody>
                    <a:bodyPr/>
                    <a:lstStyle/>
                    <a:p>
                      <a:endParaRPr lang="tr-TR" dirty="0"/>
                    </a:p>
                  </a:txBody>
                  <a:tcPr/>
                </a:tc>
                <a:tc>
                  <a:txBody>
                    <a:bodyPr/>
                    <a:lstStyle/>
                    <a:p>
                      <a:pPr algn="ctr"/>
                      <a:r>
                        <a:rPr lang="tr-TR" dirty="0" err="1"/>
                        <a:t>Positive</a:t>
                      </a:r>
                      <a:endParaRPr lang="tr-TR" dirty="0"/>
                    </a:p>
                  </a:txBody>
                  <a:tcPr/>
                </a:tc>
                <a:tc>
                  <a:txBody>
                    <a:bodyPr/>
                    <a:lstStyle/>
                    <a:p>
                      <a:pPr algn="ctr"/>
                      <a:r>
                        <a:rPr lang="tr-TR" dirty="0" err="1"/>
                        <a:t>Negative</a:t>
                      </a:r>
                      <a:endParaRPr lang="tr-TR" dirty="0"/>
                    </a:p>
                  </a:txBody>
                  <a:tcPr/>
                </a:tc>
                <a:extLst>
                  <a:ext uri="{0D108BD9-81ED-4DB2-BD59-A6C34878D82A}">
                    <a16:rowId xmlns:a16="http://schemas.microsoft.com/office/drawing/2014/main" val="436144910"/>
                  </a:ext>
                </a:extLst>
              </a:tr>
              <a:tr h="370840">
                <a:tc>
                  <a:txBody>
                    <a:bodyPr/>
                    <a:lstStyle/>
                    <a:p>
                      <a:pPr algn="ctr"/>
                      <a:r>
                        <a:rPr lang="tr-TR" dirty="0" err="1"/>
                        <a:t>Positive</a:t>
                      </a:r>
                      <a:endParaRPr lang="tr-T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dirty="0"/>
                        <a:t>1220</a:t>
                      </a:r>
                    </a:p>
                  </a:txBody>
                  <a:tcPr/>
                </a:tc>
                <a:tc>
                  <a:txBody>
                    <a:bodyPr/>
                    <a:lstStyle/>
                    <a:p>
                      <a:pPr algn="ctr"/>
                      <a:r>
                        <a:rPr lang="tr-TR" dirty="0"/>
                        <a:t>2163</a:t>
                      </a:r>
                    </a:p>
                  </a:txBody>
                  <a:tcPr/>
                </a:tc>
                <a:extLst>
                  <a:ext uri="{0D108BD9-81ED-4DB2-BD59-A6C34878D82A}">
                    <a16:rowId xmlns:a16="http://schemas.microsoft.com/office/drawing/2014/main" val="417695317"/>
                  </a:ext>
                </a:extLst>
              </a:tr>
              <a:tr h="370840">
                <a:tc>
                  <a:txBody>
                    <a:bodyPr/>
                    <a:lstStyle/>
                    <a:p>
                      <a:pPr algn="ctr"/>
                      <a:r>
                        <a:rPr lang="tr-TR" dirty="0" err="1"/>
                        <a:t>Negative</a:t>
                      </a:r>
                      <a:endParaRPr lang="tr-TR" dirty="0"/>
                    </a:p>
                  </a:txBody>
                  <a:tcPr/>
                </a:tc>
                <a:tc>
                  <a:txBody>
                    <a:bodyPr/>
                    <a:lstStyle/>
                    <a:p>
                      <a:pPr algn="ctr"/>
                      <a:r>
                        <a:rPr lang="tr-TR" dirty="0"/>
                        <a:t>762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dirty="0"/>
                        <a:t>4736</a:t>
                      </a:r>
                    </a:p>
                  </a:txBody>
                  <a:tcPr/>
                </a:tc>
                <a:extLst>
                  <a:ext uri="{0D108BD9-81ED-4DB2-BD59-A6C34878D82A}">
                    <a16:rowId xmlns:a16="http://schemas.microsoft.com/office/drawing/2014/main" val="503861319"/>
                  </a:ext>
                </a:extLst>
              </a:tr>
            </a:tbl>
          </a:graphicData>
        </a:graphic>
      </p:graphicFrame>
      <p:graphicFrame>
        <p:nvGraphicFramePr>
          <p:cNvPr id="8" name="Tablo 7">
            <a:extLst>
              <a:ext uri="{FF2B5EF4-FFF2-40B4-BE49-F238E27FC236}">
                <a16:creationId xmlns:a16="http://schemas.microsoft.com/office/drawing/2014/main" id="{DAE78032-1739-5E59-B9DA-2D06885B0159}"/>
              </a:ext>
            </a:extLst>
          </p:cNvPr>
          <p:cNvGraphicFramePr>
            <a:graphicFrameLocks noGrp="1"/>
          </p:cNvGraphicFramePr>
          <p:nvPr>
            <p:extLst>
              <p:ext uri="{D42A27DB-BD31-4B8C-83A1-F6EECF244321}">
                <p14:modId xmlns:p14="http://schemas.microsoft.com/office/powerpoint/2010/main" val="2855385783"/>
              </p:ext>
            </p:extLst>
          </p:nvPr>
        </p:nvGraphicFramePr>
        <p:xfrm>
          <a:off x="4004844" y="3906724"/>
          <a:ext cx="3839409" cy="1656080"/>
        </p:xfrm>
        <a:graphic>
          <a:graphicData uri="http://schemas.openxmlformats.org/drawingml/2006/table">
            <a:tbl>
              <a:tblPr firstRow="1" bandRow="1">
                <a:tableStyleId>{5C22544A-7EE6-4342-B048-85BDC9FD1C3A}</a:tableStyleId>
              </a:tblPr>
              <a:tblGrid>
                <a:gridCol w="1279803">
                  <a:extLst>
                    <a:ext uri="{9D8B030D-6E8A-4147-A177-3AD203B41FA5}">
                      <a16:colId xmlns:a16="http://schemas.microsoft.com/office/drawing/2014/main" val="884817039"/>
                    </a:ext>
                  </a:extLst>
                </a:gridCol>
                <a:gridCol w="1279803">
                  <a:extLst>
                    <a:ext uri="{9D8B030D-6E8A-4147-A177-3AD203B41FA5}">
                      <a16:colId xmlns:a16="http://schemas.microsoft.com/office/drawing/2014/main" val="818438382"/>
                    </a:ext>
                  </a:extLst>
                </a:gridCol>
                <a:gridCol w="1279803">
                  <a:extLst>
                    <a:ext uri="{9D8B030D-6E8A-4147-A177-3AD203B41FA5}">
                      <a16:colId xmlns:a16="http://schemas.microsoft.com/office/drawing/2014/main" val="2772846269"/>
                    </a:ext>
                  </a:extLst>
                </a:gridCol>
              </a:tblGrid>
              <a:tr h="414020">
                <a:tc rowSpan="2">
                  <a:txBody>
                    <a:bodyPr/>
                    <a:lstStyle/>
                    <a:p>
                      <a:pPr algn="ctr"/>
                      <a:r>
                        <a:rPr lang="tr-TR" dirty="0"/>
                        <a:t>3</a:t>
                      </a:r>
                    </a:p>
                  </a:txBody>
                  <a:tcPr/>
                </a:tc>
                <a:tc gridSpan="2">
                  <a:txBody>
                    <a:bodyPr/>
                    <a:lstStyle/>
                    <a:p>
                      <a:pPr algn="ctr"/>
                      <a:r>
                        <a:rPr lang="tr-TR" dirty="0" err="1"/>
                        <a:t>Random</a:t>
                      </a:r>
                      <a:r>
                        <a:rPr lang="tr-TR" dirty="0"/>
                        <a:t> </a:t>
                      </a:r>
                      <a:r>
                        <a:rPr lang="tr-TR" dirty="0" err="1"/>
                        <a:t>Forest</a:t>
                      </a:r>
                      <a:endParaRPr lang="tr-TR" dirty="0"/>
                    </a:p>
                  </a:txBody>
                  <a:tcPr/>
                </a:tc>
                <a:tc hMerge="1">
                  <a:txBody>
                    <a:bodyPr/>
                    <a:lstStyle/>
                    <a:p>
                      <a:endParaRPr lang="tr-TR" dirty="0"/>
                    </a:p>
                  </a:txBody>
                  <a:tcPr/>
                </a:tc>
                <a:extLst>
                  <a:ext uri="{0D108BD9-81ED-4DB2-BD59-A6C34878D82A}">
                    <a16:rowId xmlns:a16="http://schemas.microsoft.com/office/drawing/2014/main" val="3072786080"/>
                  </a:ext>
                </a:extLst>
              </a:tr>
              <a:tr h="414020">
                <a:tc vMerge="1">
                  <a:txBody>
                    <a:bodyPr/>
                    <a:lstStyle/>
                    <a:p>
                      <a:endParaRPr lang="tr-TR" dirty="0"/>
                    </a:p>
                  </a:txBody>
                  <a:tcPr/>
                </a:tc>
                <a:tc>
                  <a:txBody>
                    <a:bodyPr/>
                    <a:lstStyle/>
                    <a:p>
                      <a:pPr algn="ctr"/>
                      <a:r>
                        <a:rPr lang="tr-TR" dirty="0" err="1"/>
                        <a:t>Positive</a:t>
                      </a:r>
                      <a:endParaRPr lang="tr-TR" dirty="0"/>
                    </a:p>
                  </a:txBody>
                  <a:tcPr/>
                </a:tc>
                <a:tc>
                  <a:txBody>
                    <a:bodyPr/>
                    <a:lstStyle/>
                    <a:p>
                      <a:pPr algn="ctr"/>
                      <a:r>
                        <a:rPr lang="tr-TR" dirty="0" err="1"/>
                        <a:t>Negative</a:t>
                      </a:r>
                      <a:endParaRPr lang="tr-TR" dirty="0"/>
                    </a:p>
                  </a:txBody>
                  <a:tcPr/>
                </a:tc>
                <a:extLst>
                  <a:ext uri="{0D108BD9-81ED-4DB2-BD59-A6C34878D82A}">
                    <a16:rowId xmlns:a16="http://schemas.microsoft.com/office/drawing/2014/main" val="436144910"/>
                  </a:ext>
                </a:extLst>
              </a:tr>
              <a:tr h="414020">
                <a:tc>
                  <a:txBody>
                    <a:bodyPr/>
                    <a:lstStyle/>
                    <a:p>
                      <a:pPr algn="ctr"/>
                      <a:r>
                        <a:rPr lang="tr-TR" dirty="0" err="1"/>
                        <a:t>Positive</a:t>
                      </a:r>
                      <a:endParaRPr lang="tr-T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dirty="0"/>
                        <a:t>947</a:t>
                      </a:r>
                    </a:p>
                  </a:txBody>
                  <a:tcPr/>
                </a:tc>
                <a:tc>
                  <a:txBody>
                    <a:bodyPr/>
                    <a:lstStyle/>
                    <a:p>
                      <a:pPr algn="ctr"/>
                      <a:r>
                        <a:rPr lang="tr-TR" dirty="0"/>
                        <a:t>827</a:t>
                      </a:r>
                    </a:p>
                  </a:txBody>
                  <a:tcPr/>
                </a:tc>
                <a:extLst>
                  <a:ext uri="{0D108BD9-81ED-4DB2-BD59-A6C34878D82A}">
                    <a16:rowId xmlns:a16="http://schemas.microsoft.com/office/drawing/2014/main" val="417695317"/>
                  </a:ext>
                </a:extLst>
              </a:tr>
              <a:tr h="414020">
                <a:tc>
                  <a:txBody>
                    <a:bodyPr/>
                    <a:lstStyle/>
                    <a:p>
                      <a:pPr algn="ctr"/>
                      <a:r>
                        <a:rPr lang="tr-TR" dirty="0" err="1"/>
                        <a:t>Negative</a:t>
                      </a:r>
                      <a:endParaRPr lang="tr-TR" dirty="0"/>
                    </a:p>
                  </a:txBody>
                  <a:tcPr/>
                </a:tc>
                <a:tc>
                  <a:txBody>
                    <a:bodyPr/>
                    <a:lstStyle/>
                    <a:p>
                      <a:pPr algn="ctr"/>
                      <a:r>
                        <a:rPr lang="tr-TR" dirty="0"/>
                        <a:t>1035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dirty="0"/>
                        <a:t>6072</a:t>
                      </a:r>
                    </a:p>
                  </a:txBody>
                  <a:tcPr/>
                </a:tc>
                <a:extLst>
                  <a:ext uri="{0D108BD9-81ED-4DB2-BD59-A6C34878D82A}">
                    <a16:rowId xmlns:a16="http://schemas.microsoft.com/office/drawing/2014/main" val="503861319"/>
                  </a:ext>
                </a:extLst>
              </a:tr>
            </a:tbl>
          </a:graphicData>
        </a:graphic>
      </p:graphicFrame>
      <p:graphicFrame>
        <p:nvGraphicFramePr>
          <p:cNvPr id="9" name="Tablo 8">
            <a:extLst>
              <a:ext uri="{FF2B5EF4-FFF2-40B4-BE49-F238E27FC236}">
                <a16:creationId xmlns:a16="http://schemas.microsoft.com/office/drawing/2014/main" id="{CD0CFE12-9244-B6BD-2DAF-A0BC7C70736E}"/>
              </a:ext>
            </a:extLst>
          </p:cNvPr>
          <p:cNvGraphicFramePr>
            <a:graphicFrameLocks noGrp="1"/>
          </p:cNvGraphicFramePr>
          <p:nvPr>
            <p:extLst>
              <p:ext uri="{D42A27DB-BD31-4B8C-83A1-F6EECF244321}">
                <p14:modId xmlns:p14="http://schemas.microsoft.com/office/powerpoint/2010/main" val="3943543584"/>
              </p:ext>
            </p:extLst>
          </p:nvPr>
        </p:nvGraphicFramePr>
        <p:xfrm>
          <a:off x="7181854" y="1600114"/>
          <a:ext cx="3731124" cy="1656080"/>
        </p:xfrm>
        <a:graphic>
          <a:graphicData uri="http://schemas.openxmlformats.org/drawingml/2006/table">
            <a:tbl>
              <a:tblPr firstRow="1" bandRow="1">
                <a:tableStyleId>{5C22544A-7EE6-4342-B048-85BDC9FD1C3A}</a:tableStyleId>
              </a:tblPr>
              <a:tblGrid>
                <a:gridCol w="1243708">
                  <a:extLst>
                    <a:ext uri="{9D8B030D-6E8A-4147-A177-3AD203B41FA5}">
                      <a16:colId xmlns:a16="http://schemas.microsoft.com/office/drawing/2014/main" val="884817039"/>
                    </a:ext>
                  </a:extLst>
                </a:gridCol>
                <a:gridCol w="1243708">
                  <a:extLst>
                    <a:ext uri="{9D8B030D-6E8A-4147-A177-3AD203B41FA5}">
                      <a16:colId xmlns:a16="http://schemas.microsoft.com/office/drawing/2014/main" val="818438382"/>
                    </a:ext>
                  </a:extLst>
                </a:gridCol>
                <a:gridCol w="1243708">
                  <a:extLst>
                    <a:ext uri="{9D8B030D-6E8A-4147-A177-3AD203B41FA5}">
                      <a16:colId xmlns:a16="http://schemas.microsoft.com/office/drawing/2014/main" val="2772846269"/>
                    </a:ext>
                  </a:extLst>
                </a:gridCol>
              </a:tblGrid>
              <a:tr h="414020">
                <a:tc rowSpan="2">
                  <a:txBody>
                    <a:bodyPr/>
                    <a:lstStyle/>
                    <a:p>
                      <a:pPr algn="ctr"/>
                      <a:r>
                        <a:rPr lang="tr-TR" dirty="0"/>
                        <a:t>2</a:t>
                      </a:r>
                    </a:p>
                  </a:txBody>
                  <a:tcPr/>
                </a:tc>
                <a:tc gridSpan="2">
                  <a:txBody>
                    <a:bodyPr/>
                    <a:lstStyle/>
                    <a:p>
                      <a:pPr algn="ctr"/>
                      <a:r>
                        <a:rPr lang="tr-TR" dirty="0" err="1"/>
                        <a:t>Logistic</a:t>
                      </a:r>
                      <a:r>
                        <a:rPr lang="tr-TR" dirty="0"/>
                        <a:t> </a:t>
                      </a:r>
                      <a:r>
                        <a:rPr lang="tr-TR" dirty="0" err="1"/>
                        <a:t>Regression</a:t>
                      </a:r>
                      <a:endParaRPr lang="tr-TR" dirty="0"/>
                    </a:p>
                  </a:txBody>
                  <a:tcPr/>
                </a:tc>
                <a:tc hMerge="1">
                  <a:txBody>
                    <a:bodyPr/>
                    <a:lstStyle/>
                    <a:p>
                      <a:endParaRPr lang="tr-TR" dirty="0"/>
                    </a:p>
                  </a:txBody>
                  <a:tcPr/>
                </a:tc>
                <a:extLst>
                  <a:ext uri="{0D108BD9-81ED-4DB2-BD59-A6C34878D82A}">
                    <a16:rowId xmlns:a16="http://schemas.microsoft.com/office/drawing/2014/main" val="3072786080"/>
                  </a:ext>
                </a:extLst>
              </a:tr>
              <a:tr h="414020">
                <a:tc vMerge="1">
                  <a:txBody>
                    <a:bodyPr/>
                    <a:lstStyle/>
                    <a:p>
                      <a:endParaRPr lang="tr-TR" dirty="0"/>
                    </a:p>
                  </a:txBody>
                  <a:tcPr/>
                </a:tc>
                <a:tc>
                  <a:txBody>
                    <a:bodyPr/>
                    <a:lstStyle/>
                    <a:p>
                      <a:pPr algn="ctr"/>
                      <a:r>
                        <a:rPr lang="tr-TR" dirty="0" err="1"/>
                        <a:t>Positive</a:t>
                      </a:r>
                      <a:endParaRPr lang="tr-TR" dirty="0"/>
                    </a:p>
                  </a:txBody>
                  <a:tcPr/>
                </a:tc>
                <a:tc>
                  <a:txBody>
                    <a:bodyPr/>
                    <a:lstStyle/>
                    <a:p>
                      <a:pPr algn="ctr"/>
                      <a:r>
                        <a:rPr lang="tr-TR" dirty="0" err="1"/>
                        <a:t>Negative</a:t>
                      </a:r>
                      <a:endParaRPr lang="tr-TR" dirty="0"/>
                    </a:p>
                  </a:txBody>
                  <a:tcPr/>
                </a:tc>
                <a:extLst>
                  <a:ext uri="{0D108BD9-81ED-4DB2-BD59-A6C34878D82A}">
                    <a16:rowId xmlns:a16="http://schemas.microsoft.com/office/drawing/2014/main" val="436144910"/>
                  </a:ext>
                </a:extLst>
              </a:tr>
              <a:tr h="414020">
                <a:tc>
                  <a:txBody>
                    <a:bodyPr/>
                    <a:lstStyle/>
                    <a:p>
                      <a:pPr algn="ctr"/>
                      <a:r>
                        <a:rPr lang="tr-TR" dirty="0" err="1"/>
                        <a:t>Positive</a:t>
                      </a:r>
                      <a:endParaRPr lang="tr-T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dirty="0"/>
                        <a:t>1201</a:t>
                      </a:r>
                    </a:p>
                  </a:txBody>
                  <a:tcPr/>
                </a:tc>
                <a:tc>
                  <a:txBody>
                    <a:bodyPr/>
                    <a:lstStyle/>
                    <a:p>
                      <a:pPr algn="ctr"/>
                      <a:r>
                        <a:rPr lang="tr-TR" dirty="0"/>
                        <a:t>1566</a:t>
                      </a:r>
                    </a:p>
                  </a:txBody>
                  <a:tcPr/>
                </a:tc>
                <a:extLst>
                  <a:ext uri="{0D108BD9-81ED-4DB2-BD59-A6C34878D82A}">
                    <a16:rowId xmlns:a16="http://schemas.microsoft.com/office/drawing/2014/main" val="417695317"/>
                  </a:ext>
                </a:extLst>
              </a:tr>
              <a:tr h="414020">
                <a:tc>
                  <a:txBody>
                    <a:bodyPr/>
                    <a:lstStyle/>
                    <a:p>
                      <a:pPr algn="ctr"/>
                      <a:r>
                        <a:rPr lang="tr-TR" dirty="0" err="1"/>
                        <a:t>Negative</a:t>
                      </a:r>
                      <a:endParaRPr lang="tr-TR" dirty="0"/>
                    </a:p>
                  </a:txBody>
                  <a:tcPr/>
                </a:tc>
                <a:tc>
                  <a:txBody>
                    <a:bodyPr/>
                    <a:lstStyle/>
                    <a:p>
                      <a:pPr algn="ctr"/>
                      <a:r>
                        <a:rPr lang="tr-TR" dirty="0"/>
                        <a:t>781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dirty="0"/>
                        <a:t>5333</a:t>
                      </a:r>
                    </a:p>
                  </a:txBody>
                  <a:tcPr/>
                </a:tc>
                <a:extLst>
                  <a:ext uri="{0D108BD9-81ED-4DB2-BD59-A6C34878D82A}">
                    <a16:rowId xmlns:a16="http://schemas.microsoft.com/office/drawing/2014/main" val="503861319"/>
                  </a:ext>
                </a:extLst>
              </a:tr>
            </a:tbl>
          </a:graphicData>
        </a:graphic>
      </p:graphicFrame>
    </p:spTree>
    <p:extLst>
      <p:ext uri="{BB962C8B-B14F-4D97-AF65-F5344CB8AC3E}">
        <p14:creationId xmlns:p14="http://schemas.microsoft.com/office/powerpoint/2010/main" val="45358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136E63-7DA7-5995-EB59-A4AFE25FD425}"/>
              </a:ext>
            </a:extLst>
          </p:cNvPr>
          <p:cNvSpPr>
            <a:spLocks noGrp="1"/>
          </p:cNvSpPr>
          <p:nvPr>
            <p:ph type="title"/>
          </p:nvPr>
        </p:nvSpPr>
        <p:spPr>
          <a:xfrm>
            <a:off x="700088" y="909637"/>
            <a:ext cx="6400800" cy="1307592"/>
          </a:xfrm>
        </p:spPr>
        <p:txBody>
          <a:bodyPr vert="horz" lIns="91440" tIns="45720" rIns="91440" bIns="45720" rtlCol="0" anchor="t">
            <a:normAutofit/>
          </a:bodyPr>
          <a:lstStyle/>
          <a:p>
            <a:pPr lvl="0" eaLnBrk="0" fontAlgn="base" hangingPunct="0">
              <a:lnSpc>
                <a:spcPct val="100000"/>
              </a:lnSpc>
              <a:spcAft>
                <a:spcPct val="0"/>
              </a:spcAft>
              <a:buFontTx/>
              <a:buChar char="•"/>
            </a:pPr>
            <a:r>
              <a:rPr lang="en-US" dirty="0" err="1"/>
              <a:t>Calculatıon</a:t>
            </a:r>
            <a:r>
              <a:rPr lang="en-US" dirty="0"/>
              <a:t> results and </a:t>
            </a:r>
            <a:r>
              <a:rPr lang="en-US" dirty="0" err="1"/>
              <a:t>comparıson</a:t>
            </a:r>
            <a:endParaRPr lang="en-US" dirty="0"/>
          </a:p>
        </p:txBody>
      </p:sp>
      <p:graphicFrame>
        <p:nvGraphicFramePr>
          <p:cNvPr id="4" name="İçerik Yer Tutucusu 3">
            <a:extLst>
              <a:ext uri="{FF2B5EF4-FFF2-40B4-BE49-F238E27FC236}">
                <a16:creationId xmlns:a16="http://schemas.microsoft.com/office/drawing/2014/main" id="{E0061509-2B05-510D-B0EF-D7AA0EE03C96}"/>
              </a:ext>
            </a:extLst>
          </p:cNvPr>
          <p:cNvGraphicFramePr>
            <a:graphicFrameLocks noGrp="1"/>
          </p:cNvGraphicFramePr>
          <p:nvPr>
            <p:ph idx="1"/>
            <p:extLst>
              <p:ext uri="{D42A27DB-BD31-4B8C-83A1-F6EECF244321}">
                <p14:modId xmlns:p14="http://schemas.microsoft.com/office/powerpoint/2010/main" val="3646307070"/>
              </p:ext>
            </p:extLst>
          </p:nvPr>
        </p:nvGraphicFramePr>
        <p:xfrm>
          <a:off x="7176655" y="2217229"/>
          <a:ext cx="4488871" cy="2521025"/>
        </p:xfrm>
        <a:graphic>
          <a:graphicData uri="http://schemas.openxmlformats.org/drawingml/2006/table">
            <a:tbl>
              <a:tblPr firstRow="1" bandRow="1">
                <a:noFill/>
                <a:tableStyleId>{5C22544A-7EE6-4342-B048-85BDC9FD1C3A}</a:tableStyleId>
              </a:tblPr>
              <a:tblGrid>
                <a:gridCol w="1379890">
                  <a:extLst>
                    <a:ext uri="{9D8B030D-6E8A-4147-A177-3AD203B41FA5}">
                      <a16:colId xmlns:a16="http://schemas.microsoft.com/office/drawing/2014/main" val="4267546336"/>
                    </a:ext>
                  </a:extLst>
                </a:gridCol>
                <a:gridCol w="1361477">
                  <a:extLst>
                    <a:ext uri="{9D8B030D-6E8A-4147-A177-3AD203B41FA5}">
                      <a16:colId xmlns:a16="http://schemas.microsoft.com/office/drawing/2014/main" val="348235182"/>
                    </a:ext>
                  </a:extLst>
                </a:gridCol>
                <a:gridCol w="1062497">
                  <a:extLst>
                    <a:ext uri="{9D8B030D-6E8A-4147-A177-3AD203B41FA5}">
                      <a16:colId xmlns:a16="http://schemas.microsoft.com/office/drawing/2014/main" val="2111540805"/>
                    </a:ext>
                  </a:extLst>
                </a:gridCol>
                <a:gridCol w="685007">
                  <a:extLst>
                    <a:ext uri="{9D8B030D-6E8A-4147-A177-3AD203B41FA5}">
                      <a16:colId xmlns:a16="http://schemas.microsoft.com/office/drawing/2014/main" val="2863787599"/>
                    </a:ext>
                  </a:extLst>
                </a:gridCol>
              </a:tblGrid>
              <a:tr h="792689">
                <a:tc>
                  <a:txBody>
                    <a:bodyPr/>
                    <a:lstStyle/>
                    <a:p>
                      <a:r>
                        <a:rPr lang="tr-TR" sz="1400" b="1" cap="none" spc="0" dirty="0" err="1">
                          <a:solidFill>
                            <a:schemeClr val="tx1"/>
                          </a:solidFill>
                        </a:rPr>
                        <a:t>Performance</a:t>
                      </a:r>
                      <a:r>
                        <a:rPr lang="tr-TR" sz="1400" b="1" cap="none" spc="0" dirty="0">
                          <a:solidFill>
                            <a:schemeClr val="tx1"/>
                          </a:solidFill>
                        </a:rPr>
                        <a:t> </a:t>
                      </a:r>
                      <a:r>
                        <a:rPr lang="tr-TR" sz="1400" b="1" cap="none" spc="0" dirty="0" err="1">
                          <a:solidFill>
                            <a:schemeClr val="tx1"/>
                          </a:solidFill>
                        </a:rPr>
                        <a:t>Metric</a:t>
                      </a:r>
                      <a:endParaRPr lang="tr-TR" sz="1400" b="1" cap="none" spc="0" dirty="0">
                        <a:solidFill>
                          <a:schemeClr val="tx1"/>
                        </a:solidFill>
                      </a:endParaRPr>
                    </a:p>
                  </a:txBody>
                  <a:tcPr marL="57482" marR="58253" marT="16423" marB="123175" anchor="b">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tc>
                  <a:txBody>
                    <a:bodyPr/>
                    <a:lstStyle/>
                    <a:p>
                      <a:r>
                        <a:rPr lang="tr-TR" sz="1400" b="1" cap="none" spc="0">
                          <a:solidFill>
                            <a:schemeClr val="tx1"/>
                          </a:solidFill>
                        </a:rPr>
                        <a:t>Logistic Regression</a:t>
                      </a:r>
                    </a:p>
                  </a:txBody>
                  <a:tcPr marL="57482" marR="58253" marT="16423" marB="123175" anchor="b">
                    <a:lnL w="12700" cmpd="sng">
                      <a:noFill/>
                      <a:prstDash val="solid"/>
                    </a:lnL>
                    <a:lnR w="12700" cmpd="sng">
                      <a:noFill/>
                      <a:prstDash val="solid"/>
                    </a:lnR>
                    <a:lnT w="9525" cap="flat" cmpd="sng" algn="ctr">
                      <a:noFill/>
                      <a:prstDash val="solid"/>
                    </a:lnT>
                    <a:lnB w="12700" cmpd="sng">
                      <a:noFill/>
                      <a:prstDash val="solid"/>
                    </a:lnB>
                    <a:noFill/>
                  </a:tcPr>
                </a:tc>
                <a:tc>
                  <a:txBody>
                    <a:bodyPr/>
                    <a:lstStyle/>
                    <a:p>
                      <a:r>
                        <a:rPr lang="tr-TR" sz="1400" b="1" cap="none" spc="0" dirty="0" err="1">
                          <a:solidFill>
                            <a:schemeClr val="tx1"/>
                          </a:solidFill>
                        </a:rPr>
                        <a:t>Random</a:t>
                      </a:r>
                      <a:r>
                        <a:rPr lang="tr-TR" sz="1400" b="1" cap="none" spc="0" dirty="0">
                          <a:solidFill>
                            <a:schemeClr val="tx1"/>
                          </a:solidFill>
                        </a:rPr>
                        <a:t> </a:t>
                      </a:r>
                      <a:r>
                        <a:rPr lang="tr-TR" sz="1400" b="1" cap="none" spc="0" dirty="0" err="1">
                          <a:solidFill>
                            <a:schemeClr val="tx1"/>
                          </a:solidFill>
                        </a:rPr>
                        <a:t>Forest</a:t>
                      </a:r>
                      <a:endParaRPr lang="tr-TR" sz="1400" b="1" cap="none" spc="0" dirty="0">
                        <a:solidFill>
                          <a:schemeClr val="tx1"/>
                        </a:solidFill>
                      </a:endParaRPr>
                    </a:p>
                  </a:txBody>
                  <a:tcPr marL="57482" marR="58253" marT="16423" marB="123175" anchor="b">
                    <a:lnL w="12700" cmpd="sng">
                      <a:noFill/>
                      <a:prstDash val="solid"/>
                    </a:lnL>
                    <a:lnR w="12700" cmpd="sng">
                      <a:noFill/>
                      <a:prstDash val="solid"/>
                    </a:lnR>
                    <a:lnT w="9525" cap="flat" cmpd="sng" algn="ctr">
                      <a:noFill/>
                      <a:prstDash val="solid"/>
                    </a:lnT>
                    <a:lnB w="12700" cmpd="sng">
                      <a:noFill/>
                      <a:prstDash val="solid"/>
                    </a:lnB>
                    <a:noFill/>
                  </a:tcPr>
                </a:tc>
                <a:tc>
                  <a:txBody>
                    <a:bodyPr/>
                    <a:lstStyle/>
                    <a:p>
                      <a:r>
                        <a:rPr lang="tr-TR" sz="1400" b="1" cap="none" spc="0">
                          <a:solidFill>
                            <a:schemeClr val="tx1"/>
                          </a:solidFill>
                        </a:rPr>
                        <a:t>KNN</a:t>
                      </a:r>
                    </a:p>
                  </a:txBody>
                  <a:tcPr marL="57482" marR="58253" marT="16423" marB="123175" anchor="b">
                    <a:lnL w="12700" cmpd="sng">
                      <a:no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334075878"/>
                  </a:ext>
                </a:extLst>
              </a:tr>
              <a:tr h="432084">
                <a:tc>
                  <a:txBody>
                    <a:bodyPr/>
                    <a:lstStyle/>
                    <a:p>
                      <a:r>
                        <a:rPr lang="tr-TR" sz="1100" cap="none" spc="0" dirty="0" err="1">
                          <a:solidFill>
                            <a:schemeClr val="tx1"/>
                          </a:solidFill>
                        </a:rPr>
                        <a:t>Accuracy</a:t>
                      </a:r>
                      <a:endParaRPr lang="tr-TR" sz="1100" cap="none" spc="0" dirty="0">
                        <a:solidFill>
                          <a:schemeClr val="tx1"/>
                        </a:solidFill>
                      </a:endParaRPr>
                    </a:p>
                  </a:txBody>
                  <a:tcPr marL="57482" marR="58253" marT="16423" marB="123175">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r>
                        <a:rPr lang="tr-TR" sz="1100" cap="none" spc="0">
                          <a:solidFill>
                            <a:schemeClr val="tx1"/>
                          </a:solidFill>
                        </a:rPr>
                        <a:t>74%</a:t>
                      </a:r>
                    </a:p>
                  </a:txBody>
                  <a:tcPr marL="57482" marR="58253" marT="16423" marB="123175">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tr-TR" sz="1100" cap="none" spc="0" dirty="0">
                          <a:solidFill>
                            <a:schemeClr val="tx1"/>
                          </a:solidFill>
                        </a:rPr>
                        <a:t>79%</a:t>
                      </a:r>
                    </a:p>
                  </a:txBody>
                  <a:tcPr marL="57482" marR="58253" marT="16423" marB="123175">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tr-TR" sz="1100" cap="none" spc="0">
                          <a:solidFill>
                            <a:schemeClr val="tx1"/>
                          </a:solidFill>
                        </a:rPr>
                        <a:t>67%</a:t>
                      </a:r>
                    </a:p>
                  </a:txBody>
                  <a:tcPr marL="57482" marR="58253" marT="16423" marB="123175">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861305461"/>
                  </a:ext>
                </a:extLst>
              </a:tr>
              <a:tr h="432084">
                <a:tc>
                  <a:txBody>
                    <a:bodyPr/>
                    <a:lstStyle/>
                    <a:p>
                      <a:r>
                        <a:rPr lang="tr-TR" sz="1100" cap="none" spc="0">
                          <a:solidFill>
                            <a:schemeClr val="tx1"/>
                          </a:solidFill>
                        </a:rPr>
                        <a:t>Presicion</a:t>
                      </a:r>
                    </a:p>
                  </a:txBody>
                  <a:tcPr marL="57482" marR="58253" marT="16423" marB="123175">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tr-TR" sz="1100" cap="none" spc="0">
                          <a:solidFill>
                            <a:schemeClr val="tx1"/>
                          </a:solidFill>
                        </a:rPr>
                        <a:t>43%</a:t>
                      </a:r>
                    </a:p>
                  </a:txBody>
                  <a:tcPr marL="57482" marR="58253" marT="16423" marB="123175">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tr-TR" sz="1100" cap="none" spc="0">
                          <a:solidFill>
                            <a:schemeClr val="tx1"/>
                          </a:solidFill>
                        </a:rPr>
                        <a:t>53%</a:t>
                      </a:r>
                    </a:p>
                  </a:txBody>
                  <a:tcPr marL="57482" marR="58253" marT="16423" marB="123175">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tr-TR" sz="1100" cap="none" spc="0" dirty="0">
                          <a:solidFill>
                            <a:schemeClr val="tx1"/>
                          </a:solidFill>
                        </a:rPr>
                        <a:t>36%</a:t>
                      </a:r>
                    </a:p>
                  </a:txBody>
                  <a:tcPr marL="57482" marR="58253" marT="16423" marB="123175">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983089290"/>
                  </a:ext>
                </a:extLst>
              </a:tr>
              <a:tr h="432084">
                <a:tc>
                  <a:txBody>
                    <a:bodyPr/>
                    <a:lstStyle/>
                    <a:p>
                      <a:r>
                        <a:rPr lang="tr-TR" sz="1100" cap="none" spc="0">
                          <a:solidFill>
                            <a:schemeClr val="tx1"/>
                          </a:solidFill>
                        </a:rPr>
                        <a:t>Recall</a:t>
                      </a:r>
                    </a:p>
                  </a:txBody>
                  <a:tcPr marL="57482" marR="58253" marT="16423" marB="123175">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r>
                        <a:rPr lang="tr-TR" sz="1100" cap="none" spc="0" dirty="0">
                          <a:solidFill>
                            <a:schemeClr val="tx1"/>
                          </a:solidFill>
                        </a:rPr>
                        <a:t>61%</a:t>
                      </a:r>
                    </a:p>
                  </a:txBody>
                  <a:tcPr marL="57482" marR="58253" marT="16423" marB="123175">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tr-TR" sz="1100" cap="none" spc="0" dirty="0">
                          <a:solidFill>
                            <a:schemeClr val="tx1"/>
                          </a:solidFill>
                        </a:rPr>
                        <a:t>48%</a:t>
                      </a:r>
                    </a:p>
                  </a:txBody>
                  <a:tcPr marL="57482" marR="58253" marT="16423" marB="123175">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tr-TR" sz="1100" cap="none" spc="0" dirty="0">
                          <a:solidFill>
                            <a:schemeClr val="tx1"/>
                          </a:solidFill>
                        </a:rPr>
                        <a:t>62%</a:t>
                      </a:r>
                    </a:p>
                  </a:txBody>
                  <a:tcPr marL="57482" marR="58253" marT="16423" marB="123175">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097831021"/>
                  </a:ext>
                </a:extLst>
              </a:tr>
              <a:tr h="432084">
                <a:tc>
                  <a:txBody>
                    <a:bodyPr/>
                    <a:lstStyle/>
                    <a:p>
                      <a:r>
                        <a:rPr lang="tr-TR" sz="1100" cap="none" spc="0">
                          <a:solidFill>
                            <a:schemeClr val="tx1"/>
                          </a:solidFill>
                        </a:rPr>
                        <a:t>F1-Score</a:t>
                      </a:r>
                    </a:p>
                  </a:txBody>
                  <a:tcPr marL="57482" marR="58253" marT="16423" marB="123175">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tr-TR" sz="1100" cap="none" spc="0" dirty="0">
                          <a:solidFill>
                            <a:schemeClr val="tx1"/>
                          </a:solidFill>
                        </a:rPr>
                        <a:t>51%</a:t>
                      </a:r>
                    </a:p>
                  </a:txBody>
                  <a:tcPr marL="57482" marR="58253" marT="16423" marB="123175">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tr-TR" sz="1100" cap="none" spc="0" dirty="0">
                          <a:solidFill>
                            <a:schemeClr val="tx1"/>
                          </a:solidFill>
                        </a:rPr>
                        <a:t>50%</a:t>
                      </a:r>
                    </a:p>
                  </a:txBody>
                  <a:tcPr marL="57482" marR="58253" marT="16423" marB="123175">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tr-TR" sz="1100" cap="none" spc="0" dirty="0">
                          <a:solidFill>
                            <a:schemeClr val="tx1"/>
                          </a:solidFill>
                        </a:rPr>
                        <a:t>45%</a:t>
                      </a:r>
                    </a:p>
                  </a:txBody>
                  <a:tcPr marL="57482" marR="58253" marT="16423" marB="123175">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86539216"/>
                  </a:ext>
                </a:extLst>
              </a:tr>
            </a:tbl>
          </a:graphicData>
        </a:graphic>
      </p:graphicFrame>
      <p:sp>
        <p:nvSpPr>
          <p:cNvPr id="22" name="Metin kutusu 21">
            <a:extLst>
              <a:ext uri="{FF2B5EF4-FFF2-40B4-BE49-F238E27FC236}">
                <a16:creationId xmlns:a16="http://schemas.microsoft.com/office/drawing/2014/main" id="{82790C3F-789F-5455-FBD2-810898517D88}"/>
              </a:ext>
            </a:extLst>
          </p:cNvPr>
          <p:cNvSpPr txBox="1"/>
          <p:nvPr/>
        </p:nvSpPr>
        <p:spPr>
          <a:xfrm>
            <a:off x="700088" y="2221992"/>
            <a:ext cx="6400800" cy="3739896"/>
          </a:xfrm>
          <a:prstGeom prst="rect">
            <a:avLst/>
          </a:prstGeom>
        </p:spPr>
        <p:txBody>
          <a:bodyPr vert="horz" lIns="91440" tIns="45720" rIns="91440" bIns="45720" rtlCol="0">
            <a:normAutofit/>
          </a:bodyPr>
          <a:lstStyle/>
          <a:p>
            <a:pPr indent="-228600">
              <a:lnSpc>
                <a:spcPct val="110000"/>
              </a:lnSpc>
              <a:spcAft>
                <a:spcPts val="600"/>
              </a:spcAft>
              <a:buFont typeface="Arial" panose="020B0604020202020204" pitchFamily="34" charset="0"/>
              <a:buChar char="•"/>
            </a:pPr>
            <a:r>
              <a:rPr lang="en-US" b="1" i="0" dirty="0">
                <a:effectLst/>
              </a:rPr>
              <a:t>KNN</a:t>
            </a:r>
            <a:r>
              <a:rPr lang="en-US" b="1" dirty="0"/>
              <a:t>:</a:t>
            </a:r>
            <a:br>
              <a:rPr lang="en-US" b="1" dirty="0"/>
            </a:br>
            <a:r>
              <a:rPr lang="tr-TR" b="1" dirty="0"/>
              <a:t>      </a:t>
            </a:r>
            <a:r>
              <a:rPr lang="en-US" dirty="0"/>
              <a:t>Had low accuracy (67%) and precision (36%). Only the recall score (62%) was decent.</a:t>
            </a:r>
            <a:endParaRPr lang="tr-TR" dirty="0"/>
          </a:p>
          <a:p>
            <a:pPr indent="-228600">
              <a:lnSpc>
                <a:spcPct val="110000"/>
              </a:lnSpc>
              <a:spcAft>
                <a:spcPts val="600"/>
              </a:spcAft>
              <a:buFont typeface="Arial" panose="020B0604020202020204" pitchFamily="34" charset="0"/>
              <a:buChar char="•"/>
            </a:pPr>
            <a:r>
              <a:rPr lang="en-US" b="1" i="0" dirty="0">
                <a:effectLst/>
              </a:rPr>
              <a:t>Random Forest</a:t>
            </a:r>
            <a:r>
              <a:rPr lang="en-US" b="1" dirty="0"/>
              <a:t>:</a:t>
            </a:r>
            <a:br>
              <a:rPr lang="en-US" b="1" dirty="0"/>
            </a:br>
            <a:r>
              <a:rPr lang="tr-TR" b="1" dirty="0"/>
              <a:t>      </a:t>
            </a:r>
            <a:r>
              <a:rPr lang="en-US" dirty="0"/>
              <a:t>Achieved the best accuracy (79%). However, it was not good at finding defaults (recall was only 48%), meaning it misses risky customers.</a:t>
            </a:r>
            <a:endParaRPr lang="en-US" b="1" i="0" dirty="0">
              <a:effectLst/>
            </a:endParaRPr>
          </a:p>
          <a:p>
            <a:pPr indent="-228600">
              <a:lnSpc>
                <a:spcPct val="110000"/>
              </a:lnSpc>
              <a:spcAft>
                <a:spcPts val="600"/>
              </a:spcAft>
              <a:buFont typeface="Arial" panose="020B0604020202020204" pitchFamily="34" charset="0"/>
              <a:buChar char="•"/>
            </a:pPr>
            <a:r>
              <a:rPr lang="en-US" b="1" i="0" dirty="0">
                <a:effectLst/>
              </a:rPr>
              <a:t>Logistic Regression:</a:t>
            </a:r>
            <a:br>
              <a:rPr lang="en-US" b="1" i="0" dirty="0">
                <a:effectLst/>
              </a:rPr>
            </a:br>
            <a:r>
              <a:rPr lang="tr-TR" b="1" i="0" dirty="0">
                <a:effectLst/>
              </a:rPr>
              <a:t>      </a:t>
            </a:r>
            <a:r>
              <a:rPr lang="en-US" dirty="0"/>
              <a:t>Was the most balanced model (F1 score: 51%). It was the best at spotting defaults (recall: 61%).</a:t>
            </a:r>
          </a:p>
        </p:txBody>
      </p:sp>
    </p:spTree>
    <p:extLst>
      <p:ext uri="{BB962C8B-B14F-4D97-AF65-F5344CB8AC3E}">
        <p14:creationId xmlns:p14="http://schemas.microsoft.com/office/powerpoint/2010/main" val="4263905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Resim 5" descr="metin, ekran görüntüsü, yazı tipi, çizgi içeren bir resim&#10;&#10;Yapay zeka tarafından oluşturulan içerik yanlış olabilir.">
            <a:extLst>
              <a:ext uri="{FF2B5EF4-FFF2-40B4-BE49-F238E27FC236}">
                <a16:creationId xmlns:a16="http://schemas.microsoft.com/office/drawing/2014/main" id="{2D662ACA-D7B4-E9D5-DDB6-46F9AFBE65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707970" y="1508761"/>
            <a:ext cx="3829707" cy="1809536"/>
          </a:xfrm>
          <a:prstGeom prst="rect">
            <a:avLst/>
          </a:prstGeom>
          <a:noFill/>
        </p:spPr>
      </p:pic>
      <p:cxnSp>
        <p:nvCxnSpPr>
          <p:cNvPr id="25" name="Straight Connector 24">
            <a:extLst>
              <a:ext uri="{FF2B5EF4-FFF2-40B4-BE49-F238E27FC236}">
                <a16:creationId xmlns:a16="http://schemas.microsoft.com/office/drawing/2014/main" id="{D4BDCD00-BA97-40D8-93CD-0A9CA931BE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2080" y="3429000"/>
            <a:ext cx="2636520" cy="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4" name="Picture 1">
            <a:extLst>
              <a:ext uri="{FF2B5EF4-FFF2-40B4-BE49-F238E27FC236}">
                <a16:creationId xmlns:a16="http://schemas.microsoft.com/office/drawing/2014/main" id="{70ED9033-5AE3-3DB9-CEAC-FACA1F5D0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770916" y="1848207"/>
            <a:ext cx="6514304" cy="3908580"/>
          </a:xfrm>
          <a:prstGeom prst="rect">
            <a:avLst/>
          </a:prstGeom>
          <a:noFill/>
        </p:spPr>
      </p:pic>
      <p:cxnSp>
        <p:nvCxnSpPr>
          <p:cNvPr id="27" name="Straight Connector 26">
            <a:extLst>
              <a:ext uri="{FF2B5EF4-FFF2-40B4-BE49-F238E27FC236}">
                <a16:creationId xmlns:a16="http://schemas.microsoft.com/office/drawing/2014/main" id="{2D631E40-F51C-4828-B23B-DF90351329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5" name="Resim 4" descr="metin, ekran görüntüsü, sayı, numara, öykü gelişim çizgisi; kumpas; grafiğini çıkarma içeren bir resim&#10;&#10;Yapay zeka tarafından oluşturulan içerik yanlış olabilir.">
            <a:extLst>
              <a:ext uri="{FF2B5EF4-FFF2-40B4-BE49-F238E27FC236}">
                <a16:creationId xmlns:a16="http://schemas.microsoft.com/office/drawing/2014/main" id="{C100795A-F2F7-69A8-8622-F0302A637C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703296" y="3539704"/>
            <a:ext cx="3834381" cy="2684066"/>
          </a:xfrm>
          <a:prstGeom prst="rect">
            <a:avLst/>
          </a:prstGeom>
          <a:noFill/>
        </p:spPr>
      </p:pic>
    </p:spTree>
    <p:extLst>
      <p:ext uri="{BB962C8B-B14F-4D97-AF65-F5344CB8AC3E}">
        <p14:creationId xmlns:p14="http://schemas.microsoft.com/office/powerpoint/2010/main" val="135964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64DD1C36-9533-9906-E6EE-0EEB75CFAA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9880" y="493183"/>
            <a:ext cx="6118860" cy="5871633"/>
          </a:xfrm>
          <a:prstGeom prst="rect">
            <a:avLst/>
          </a:prstGeom>
          <a:noFill/>
          <a:ln>
            <a:noFill/>
          </a:ln>
        </p:spPr>
      </p:pic>
    </p:spTree>
    <p:extLst>
      <p:ext uri="{BB962C8B-B14F-4D97-AF65-F5344CB8AC3E}">
        <p14:creationId xmlns:p14="http://schemas.microsoft.com/office/powerpoint/2010/main" val="2810715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Resim 8">
            <a:extLst>
              <a:ext uri="{FF2B5EF4-FFF2-40B4-BE49-F238E27FC236}">
                <a16:creationId xmlns:a16="http://schemas.microsoft.com/office/drawing/2014/main" id="{17987CE3-EF35-13CA-B122-3FD3B2989EEC}"/>
              </a:ext>
            </a:extLst>
          </p:cNvPr>
          <p:cNvPicPr>
            <a:picLocks noChangeAspect="1"/>
          </p:cNvPicPr>
          <p:nvPr/>
        </p:nvPicPr>
        <p:blipFill>
          <a:blip r:embed="rId2"/>
          <a:stretch>
            <a:fillRect/>
          </a:stretch>
        </p:blipFill>
        <p:spPr>
          <a:xfrm>
            <a:off x="1056661" y="650497"/>
            <a:ext cx="3930978" cy="2358586"/>
          </a:xfrm>
          <a:prstGeom prst="rect">
            <a:avLst/>
          </a:prstGeom>
        </p:spPr>
      </p:pic>
      <p:pic>
        <p:nvPicPr>
          <p:cNvPr id="7" name="Resim 6">
            <a:extLst>
              <a:ext uri="{FF2B5EF4-FFF2-40B4-BE49-F238E27FC236}">
                <a16:creationId xmlns:a16="http://schemas.microsoft.com/office/drawing/2014/main" id="{813F9D30-BF75-363D-A760-0FE0331F1754}"/>
              </a:ext>
            </a:extLst>
          </p:cNvPr>
          <p:cNvPicPr>
            <a:picLocks noChangeAspect="1"/>
          </p:cNvPicPr>
          <p:nvPr/>
        </p:nvPicPr>
        <p:blipFill>
          <a:blip r:embed="rId3"/>
          <a:stretch>
            <a:fillRect/>
          </a:stretch>
        </p:blipFill>
        <p:spPr>
          <a:xfrm>
            <a:off x="1056661" y="3862977"/>
            <a:ext cx="3930978" cy="2358586"/>
          </a:xfrm>
          <a:prstGeom prst="rect">
            <a:avLst/>
          </a:prstGeom>
        </p:spPr>
      </p:pic>
      <p:pic>
        <p:nvPicPr>
          <p:cNvPr id="5" name="Resim 4">
            <a:extLst>
              <a:ext uri="{FF2B5EF4-FFF2-40B4-BE49-F238E27FC236}">
                <a16:creationId xmlns:a16="http://schemas.microsoft.com/office/drawing/2014/main" id="{D8E25B04-26A6-2638-C963-C31F59215B26}"/>
              </a:ext>
            </a:extLst>
          </p:cNvPr>
          <p:cNvPicPr>
            <a:picLocks noChangeAspect="1"/>
          </p:cNvPicPr>
          <p:nvPr/>
        </p:nvPicPr>
        <p:blipFill>
          <a:blip r:embed="rId4"/>
          <a:stretch>
            <a:fillRect/>
          </a:stretch>
        </p:blipFill>
        <p:spPr>
          <a:xfrm>
            <a:off x="5564273" y="650497"/>
            <a:ext cx="5571066" cy="5571066"/>
          </a:xfrm>
          <a:prstGeom prst="rect">
            <a:avLst/>
          </a:prstGeom>
        </p:spPr>
      </p:pic>
    </p:spTree>
    <p:extLst>
      <p:ext uri="{BB962C8B-B14F-4D97-AF65-F5344CB8AC3E}">
        <p14:creationId xmlns:p14="http://schemas.microsoft.com/office/powerpoint/2010/main" val="3752121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Resim 12">
            <a:extLst>
              <a:ext uri="{FF2B5EF4-FFF2-40B4-BE49-F238E27FC236}">
                <a16:creationId xmlns:a16="http://schemas.microsoft.com/office/drawing/2014/main" id="{5971BAB7-FA57-1DF1-1550-0F46D32DB91C}"/>
              </a:ext>
            </a:extLst>
          </p:cNvPr>
          <p:cNvPicPr>
            <a:picLocks noChangeAspect="1"/>
          </p:cNvPicPr>
          <p:nvPr/>
        </p:nvPicPr>
        <p:blipFill>
          <a:blip r:embed="rId2"/>
          <a:srcRect t="21830" r="2" b="1179"/>
          <a:stretch>
            <a:fillRect/>
          </a:stretch>
        </p:blipFill>
        <p:spPr>
          <a:xfrm>
            <a:off x="1129115" y="778336"/>
            <a:ext cx="4724569" cy="2273478"/>
          </a:xfrm>
          <a:prstGeom prst="rect">
            <a:avLst/>
          </a:prstGeom>
        </p:spPr>
      </p:pic>
      <p:cxnSp>
        <p:nvCxnSpPr>
          <p:cNvPr id="32" name="Straight Connector 31">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3033D519-0150-F644-765D-69A0C4DE21A0}"/>
              </a:ext>
            </a:extLst>
          </p:cNvPr>
          <p:cNvPicPr>
            <a:picLocks noChangeAspect="1"/>
          </p:cNvPicPr>
          <p:nvPr/>
        </p:nvPicPr>
        <p:blipFill>
          <a:blip r:embed="rId3"/>
          <a:srcRect l="8318" r="60" b="-1"/>
          <a:stretch>
            <a:fillRect/>
          </a:stretch>
        </p:blipFill>
        <p:spPr>
          <a:xfrm>
            <a:off x="6374663" y="643467"/>
            <a:ext cx="4660245" cy="2543217"/>
          </a:xfrm>
          <a:prstGeom prst="rect">
            <a:avLst/>
          </a:prstGeom>
        </p:spPr>
      </p:pic>
      <p:cxnSp>
        <p:nvCxnSpPr>
          <p:cNvPr id="34" name="Straight Connector 33">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Resim 10">
            <a:extLst>
              <a:ext uri="{FF2B5EF4-FFF2-40B4-BE49-F238E27FC236}">
                <a16:creationId xmlns:a16="http://schemas.microsoft.com/office/drawing/2014/main" id="{35A6E4D1-8DFA-77CE-D97F-29864B7E0534}"/>
              </a:ext>
            </a:extLst>
          </p:cNvPr>
          <p:cNvPicPr>
            <a:picLocks noChangeAspect="1"/>
          </p:cNvPicPr>
          <p:nvPr/>
        </p:nvPicPr>
        <p:blipFill>
          <a:blip r:embed="rId4"/>
          <a:srcRect t="16008" r="-2" b="7081"/>
          <a:stretch>
            <a:fillRect/>
          </a:stretch>
        </p:blipFill>
        <p:spPr>
          <a:xfrm>
            <a:off x="1129115" y="3808734"/>
            <a:ext cx="4724569" cy="2271025"/>
          </a:xfrm>
          <a:prstGeom prst="rect">
            <a:avLst/>
          </a:prstGeom>
        </p:spPr>
      </p:pic>
      <p:pic>
        <p:nvPicPr>
          <p:cNvPr id="9" name="Resim 8">
            <a:extLst>
              <a:ext uri="{FF2B5EF4-FFF2-40B4-BE49-F238E27FC236}">
                <a16:creationId xmlns:a16="http://schemas.microsoft.com/office/drawing/2014/main" id="{749A6553-8FC7-A0E8-6EA3-1DD86BDC0AE5}"/>
              </a:ext>
            </a:extLst>
          </p:cNvPr>
          <p:cNvPicPr>
            <a:picLocks noChangeAspect="1"/>
          </p:cNvPicPr>
          <p:nvPr/>
        </p:nvPicPr>
        <p:blipFill>
          <a:blip r:embed="rId5"/>
          <a:srcRect t="11248" r="2" b="1693"/>
          <a:stretch>
            <a:fillRect/>
          </a:stretch>
        </p:blipFill>
        <p:spPr>
          <a:xfrm>
            <a:off x="6367756" y="3671316"/>
            <a:ext cx="4674060" cy="2553469"/>
          </a:xfrm>
          <a:prstGeom prst="rect">
            <a:avLst/>
          </a:prstGeom>
        </p:spPr>
      </p:pic>
    </p:spTree>
    <p:extLst>
      <p:ext uri="{BB962C8B-B14F-4D97-AF65-F5344CB8AC3E}">
        <p14:creationId xmlns:p14="http://schemas.microsoft.com/office/powerpoint/2010/main" val="846385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62"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63"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64"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65"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66"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67"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69" name="Group 68">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70"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71"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72"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73"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75" name="Group 74">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76"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77"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78"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79"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81" name="Group 80">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82"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83"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84"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85"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86"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87"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89" name="Rectangle 88">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EEB561E-E0E5-1CCC-CC3A-1F48C2837001}"/>
              </a:ext>
            </a:extLst>
          </p:cNvPr>
          <p:cNvSpPr>
            <a:spLocks noGrp="1"/>
          </p:cNvSpPr>
          <p:nvPr>
            <p:ph type="title"/>
          </p:nvPr>
        </p:nvSpPr>
        <p:spPr>
          <a:xfrm>
            <a:off x="1577445" y="1168078"/>
            <a:ext cx="9048219" cy="1092200"/>
          </a:xfrm>
        </p:spPr>
        <p:txBody>
          <a:bodyPr anchor="ctr">
            <a:normAutofit/>
          </a:bodyPr>
          <a:lstStyle/>
          <a:p>
            <a:pPr algn="ctr"/>
            <a:r>
              <a:rPr lang="tr-TR">
                <a:solidFill>
                  <a:srgbClr val="FFFFFF"/>
                </a:solidFill>
              </a:rPr>
              <a:t>Conclusıon</a:t>
            </a:r>
          </a:p>
        </p:txBody>
      </p:sp>
      <p:sp>
        <p:nvSpPr>
          <p:cNvPr id="3" name="İçerik Yer Tutucusu 2">
            <a:extLst>
              <a:ext uri="{FF2B5EF4-FFF2-40B4-BE49-F238E27FC236}">
                <a16:creationId xmlns:a16="http://schemas.microsoft.com/office/drawing/2014/main" id="{2EA869A9-FC7F-39E8-FE06-690330DBE30A}"/>
              </a:ext>
            </a:extLst>
          </p:cNvPr>
          <p:cNvSpPr>
            <a:spLocks noGrp="1"/>
          </p:cNvSpPr>
          <p:nvPr>
            <p:ph idx="1"/>
          </p:nvPr>
        </p:nvSpPr>
        <p:spPr>
          <a:xfrm>
            <a:off x="1577446" y="2413001"/>
            <a:ext cx="9048218" cy="3033180"/>
          </a:xfrm>
        </p:spPr>
        <p:txBody>
          <a:bodyPr anchor="ctr">
            <a:normAutofit/>
          </a:bodyPr>
          <a:lstStyle/>
          <a:p>
            <a:pPr marL="0" indent="0">
              <a:buNone/>
            </a:pPr>
            <a:r>
              <a:rPr lang="tr-TR" sz="2000">
                <a:solidFill>
                  <a:srgbClr val="FFFFFF"/>
                </a:solidFill>
              </a:rPr>
              <a:t>      </a:t>
            </a:r>
            <a:r>
              <a:rPr lang="en-US" sz="2000">
                <a:solidFill>
                  <a:srgbClr val="FFFFFF"/>
                </a:solidFill>
              </a:rPr>
              <a:t>In this project, we built and compared three machine learning models to predict who might miss credit card payments. Although the Random Forest model had the best total accuracy, it did a poor job of identifying people who actually default. The KNN model found enough defaults but was not precise or consistent. Logistic Regression, however, offered the most balanced results with the best ability to spot defaults and a strong F1-score. Since catching potential missed payments is vital for managing financial risk, we recommend Logistic Regression as the best model to use in real situations</a:t>
            </a:r>
            <a:endParaRPr lang="tr-TR" sz="2000">
              <a:solidFill>
                <a:srgbClr val="FFFFFF"/>
              </a:solidFill>
            </a:endParaRPr>
          </a:p>
        </p:txBody>
      </p:sp>
    </p:spTree>
    <p:extLst>
      <p:ext uri="{BB962C8B-B14F-4D97-AF65-F5344CB8AC3E}">
        <p14:creationId xmlns:p14="http://schemas.microsoft.com/office/powerpoint/2010/main" val="471338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4" name="Group 123">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5"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6"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27"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28"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29"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30"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32" name="Group 131">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3"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134"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135"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36"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138" name="Group 137">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140"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141"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2"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144" name="Group 143">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5"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46"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47"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8"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49"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50"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152" name="Rectangle 151">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BB9D627-8585-1F54-0C10-B95CB0C0848B}"/>
              </a:ext>
            </a:extLst>
          </p:cNvPr>
          <p:cNvSpPr>
            <a:spLocks noGrp="1"/>
          </p:cNvSpPr>
          <p:nvPr>
            <p:ph type="title"/>
          </p:nvPr>
        </p:nvSpPr>
        <p:spPr>
          <a:xfrm>
            <a:off x="1577445" y="1168078"/>
            <a:ext cx="9048219" cy="1092200"/>
          </a:xfrm>
        </p:spPr>
        <p:txBody>
          <a:bodyPr anchor="ctr">
            <a:normAutofit/>
          </a:bodyPr>
          <a:lstStyle/>
          <a:p>
            <a:pPr algn="ctr"/>
            <a:r>
              <a:rPr lang="tr-TR">
                <a:solidFill>
                  <a:srgbClr val="FFFFFF"/>
                </a:solidFill>
              </a:rPr>
              <a:t>References:</a:t>
            </a:r>
          </a:p>
        </p:txBody>
      </p:sp>
      <p:sp>
        <p:nvSpPr>
          <p:cNvPr id="80" name="İçerik Yer Tutucusu 2">
            <a:extLst>
              <a:ext uri="{FF2B5EF4-FFF2-40B4-BE49-F238E27FC236}">
                <a16:creationId xmlns:a16="http://schemas.microsoft.com/office/drawing/2014/main" id="{724B0F9B-95F3-A58A-C8B4-9479C5113DD2}"/>
              </a:ext>
            </a:extLst>
          </p:cNvPr>
          <p:cNvSpPr>
            <a:spLocks noGrp="1"/>
          </p:cNvSpPr>
          <p:nvPr>
            <p:ph idx="1"/>
          </p:nvPr>
        </p:nvSpPr>
        <p:spPr>
          <a:xfrm>
            <a:off x="1577446" y="2413001"/>
            <a:ext cx="9048218" cy="3033180"/>
          </a:xfrm>
        </p:spPr>
        <p:txBody>
          <a:bodyPr anchor="ctr">
            <a:normAutofit/>
          </a:bodyPr>
          <a:lstStyle/>
          <a:p>
            <a:r>
              <a:rPr lang="en-US" sz="2000" u="sng" dirty="0">
                <a:solidFill>
                  <a:srgbClr val="FFFFFF"/>
                </a:solidFill>
                <a:hlinkClick r:id="rId3"/>
              </a:rPr>
              <a:t>https://archive.ics.uci.edu/dataset/350/default+of+credit+card+clients</a:t>
            </a:r>
            <a:endParaRPr lang="en-US" sz="2000" dirty="0">
              <a:solidFill>
                <a:srgbClr val="FFFFFF"/>
              </a:solidFill>
            </a:endParaRPr>
          </a:p>
          <a:p>
            <a:r>
              <a:rPr lang="en-US" sz="2000" u="sng" dirty="0">
                <a:solidFill>
                  <a:srgbClr val="FFFFFF"/>
                </a:solidFill>
                <a:hlinkClick r:id="rId4"/>
              </a:rPr>
              <a:t>https://www.datylon.com/blog/types-of-charts-graphs-examples-data-visualization</a:t>
            </a:r>
            <a:endParaRPr lang="en-US" sz="2000" dirty="0">
              <a:solidFill>
                <a:srgbClr val="FFFFFF"/>
              </a:solidFill>
            </a:endParaRPr>
          </a:p>
          <a:p>
            <a:r>
              <a:rPr lang="en-US" sz="2000" u="sng" dirty="0">
                <a:solidFill>
                  <a:srgbClr val="FFFFFF"/>
                </a:solidFill>
                <a:hlinkClick r:id="rId5"/>
              </a:rPr>
              <a:t>https://scikit-learn.org/stable/user_guide.html</a:t>
            </a:r>
            <a:endParaRPr lang="en-US" sz="2000" dirty="0">
              <a:solidFill>
                <a:srgbClr val="FFFFFF"/>
              </a:solidFill>
            </a:endParaRPr>
          </a:p>
          <a:p>
            <a:r>
              <a:rPr lang="en-US" sz="2000" u="sng" dirty="0">
                <a:solidFill>
                  <a:srgbClr val="FFFFFF"/>
                </a:solidFill>
                <a:hlinkClick r:id="rId6"/>
              </a:rPr>
              <a:t>https://pandas.pydata.org/docs/user_guide/index.html</a:t>
            </a:r>
            <a:endParaRPr lang="en-US" sz="2000" dirty="0">
              <a:solidFill>
                <a:srgbClr val="FFFFFF"/>
              </a:solidFill>
            </a:endParaRPr>
          </a:p>
          <a:p>
            <a:r>
              <a:rPr lang="en-US" sz="2000" u="sng" dirty="0">
                <a:solidFill>
                  <a:srgbClr val="FFFFFF"/>
                </a:solidFill>
                <a:hlinkClick r:id="rId7"/>
              </a:rPr>
              <a:t>https://seaborn.pydata.org/tutorial.html</a:t>
            </a:r>
            <a:endParaRPr lang="en-US" sz="2000" dirty="0">
              <a:solidFill>
                <a:srgbClr val="FFFFFF"/>
              </a:solidFill>
            </a:endParaRPr>
          </a:p>
        </p:txBody>
      </p:sp>
    </p:spTree>
    <p:extLst>
      <p:ext uri="{BB962C8B-B14F-4D97-AF65-F5344CB8AC3E}">
        <p14:creationId xmlns:p14="http://schemas.microsoft.com/office/powerpoint/2010/main" val="35147373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vre">
  <a:themeElements>
    <a:clrScheme name="Devre">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Devre">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vre">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TM04033919[[fn=Devre]]</Template>
  <TotalTime>876</TotalTime>
  <Words>796</Words>
  <Application>Microsoft Office PowerPoint</Application>
  <PresentationFormat>Widescreen</PresentationFormat>
  <Paragraphs>84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Times New Roman</vt:lpstr>
      <vt:lpstr>Tw Cen MT</vt:lpstr>
      <vt:lpstr>Devre</vt:lpstr>
      <vt:lpstr>FINTECH PROJECT</vt:lpstr>
      <vt:lpstr>PredIctIng CredIt Card Defaults WIth MachIne LearnIng</vt:lpstr>
      <vt:lpstr>PredIctIng CredIt Card Defaults WIth MachIne LearnIng</vt:lpstr>
      <vt:lpstr>Names of the Models  used ın the project</vt:lpstr>
      <vt:lpstr>Dataset ınformatıon and sample</vt:lpstr>
      <vt:lpstr>Test set and traınıng set dıvısıon</vt:lpstr>
      <vt:lpstr>Confusıon matrıCes</vt:lpstr>
      <vt:lpstr>Calculatıon results and comparıson</vt:lpstr>
      <vt:lpstr>PowerPoint Presentation</vt:lpstr>
      <vt:lpstr>PowerPoint Presentation</vt:lpstr>
      <vt:lpstr>PowerPoint Presentation</vt:lpstr>
      <vt:lpstr>PowerPoint Presentation</vt:lpstr>
      <vt:lpstr>Conclusıon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İsmail Talha ILICA</dc:creator>
  <cp:lastModifiedBy>Bilal Emre DURMUŞ</cp:lastModifiedBy>
  <cp:revision>12</cp:revision>
  <dcterms:created xsi:type="dcterms:W3CDTF">2025-05-28T19:51:47Z</dcterms:created>
  <dcterms:modified xsi:type="dcterms:W3CDTF">2026-03-24T14:59:26Z</dcterms:modified>
</cp:coreProperties>
</file>